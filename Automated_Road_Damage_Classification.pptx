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C9FE81-3670-4F79-8847-7AA14CFBBB9A}" v="655" dt="2026-09-17T13:18:04.9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AL C" userId="cc329738cce8ef92" providerId="Windows Live" clId="Web-{76C9FE81-3670-4F79-8847-7AA14CFBBB9A}"/>
    <pc:docChg chg="addSld delSld modSld">
      <pc:chgData name="GOPAL C" userId="cc329738cce8ef92" providerId="Windows Live" clId="Web-{76C9FE81-3670-4F79-8847-7AA14CFBBB9A}" dt="2026-09-17T13:18:04.918" v="530" actId="20577"/>
      <pc:docMkLst>
        <pc:docMk/>
      </pc:docMkLst>
      <pc:sldChg chg="del">
        <pc:chgData name="GOPAL C" userId="cc329738cce8ef92" providerId="Windows Live" clId="Web-{76C9FE81-3670-4F79-8847-7AA14CFBBB9A}" dt="2026-09-17T12:50:02.708" v="65"/>
        <pc:sldMkLst>
          <pc:docMk/>
          <pc:sldMk cId="109857222" sldId="256"/>
        </pc:sldMkLst>
      </pc:sldChg>
      <pc:sldChg chg="addSp modSp new">
        <pc:chgData name="GOPAL C" userId="cc329738cce8ef92" providerId="Windows Live" clId="Web-{76C9FE81-3670-4F79-8847-7AA14CFBBB9A}" dt="2026-09-17T12:49:59.020" v="64" actId="20577"/>
        <pc:sldMkLst>
          <pc:docMk/>
          <pc:sldMk cId="1871306929" sldId="257"/>
        </pc:sldMkLst>
        <pc:spChg chg="add mod">
          <ac:chgData name="GOPAL C" userId="cc329738cce8ef92" providerId="Windows Live" clId="Web-{76C9FE81-3670-4F79-8847-7AA14CFBBB9A}" dt="2026-09-17T12:49:59.020" v="64" actId="20577"/>
          <ac:spMkLst>
            <pc:docMk/>
            <pc:sldMk cId="1871306929" sldId="257"/>
            <ac:spMk id="2" creationId="{9440B56B-65BB-FAA2-8DA9-FABE3351F067}"/>
          </ac:spMkLst>
        </pc:spChg>
      </pc:sldChg>
      <pc:sldChg chg="addSp modSp new">
        <pc:chgData name="GOPAL C" userId="cc329738cce8ef92" providerId="Windows Live" clId="Web-{76C9FE81-3670-4F79-8847-7AA14CFBBB9A}" dt="2026-09-17T12:56:11.273" v="145" actId="20577"/>
        <pc:sldMkLst>
          <pc:docMk/>
          <pc:sldMk cId="1878435552" sldId="258"/>
        </pc:sldMkLst>
        <pc:spChg chg="add mod">
          <ac:chgData name="GOPAL C" userId="cc329738cce8ef92" providerId="Windows Live" clId="Web-{76C9FE81-3670-4F79-8847-7AA14CFBBB9A}" dt="2026-09-17T12:56:11.273" v="145" actId="20577"/>
          <ac:spMkLst>
            <pc:docMk/>
            <pc:sldMk cId="1878435552" sldId="258"/>
            <ac:spMk id="2" creationId="{44B54796-83C3-FDF0-A50F-C421EF77D620}"/>
          </ac:spMkLst>
        </pc:spChg>
      </pc:sldChg>
      <pc:sldChg chg="addSp modSp new">
        <pc:chgData name="GOPAL C" userId="cc329738cce8ef92" providerId="Windows Live" clId="Web-{76C9FE81-3670-4F79-8847-7AA14CFBBB9A}" dt="2026-09-17T12:58:06.419" v="196" actId="20577"/>
        <pc:sldMkLst>
          <pc:docMk/>
          <pc:sldMk cId="77052044" sldId="259"/>
        </pc:sldMkLst>
        <pc:spChg chg="add mod">
          <ac:chgData name="GOPAL C" userId="cc329738cce8ef92" providerId="Windows Live" clId="Web-{76C9FE81-3670-4F79-8847-7AA14CFBBB9A}" dt="2026-09-17T12:58:06.419" v="196" actId="20577"/>
          <ac:spMkLst>
            <pc:docMk/>
            <pc:sldMk cId="77052044" sldId="259"/>
            <ac:spMk id="2" creationId="{2B9CF444-A3E5-87E7-E72D-8F1B85AD95F3}"/>
          </ac:spMkLst>
        </pc:spChg>
      </pc:sldChg>
      <pc:sldChg chg="addSp modSp new">
        <pc:chgData name="GOPAL C" userId="cc329738cce8ef92" providerId="Windows Live" clId="Web-{76C9FE81-3670-4F79-8847-7AA14CFBBB9A}" dt="2026-09-17T13:01:16.941" v="232" actId="20577"/>
        <pc:sldMkLst>
          <pc:docMk/>
          <pc:sldMk cId="1618759145" sldId="260"/>
        </pc:sldMkLst>
        <pc:spChg chg="add mod">
          <ac:chgData name="GOPAL C" userId="cc329738cce8ef92" providerId="Windows Live" clId="Web-{76C9FE81-3670-4F79-8847-7AA14CFBBB9A}" dt="2026-09-17T13:00:56.784" v="226" actId="14100"/>
          <ac:spMkLst>
            <pc:docMk/>
            <pc:sldMk cId="1618759145" sldId="260"/>
            <ac:spMk id="4" creationId="{0D98B835-518D-6CDF-FE32-FA7C592B27B4}"/>
          </ac:spMkLst>
        </pc:spChg>
        <pc:spChg chg="add mod">
          <ac:chgData name="GOPAL C" userId="cc329738cce8ef92" providerId="Windows Live" clId="Web-{76C9FE81-3670-4F79-8847-7AA14CFBBB9A}" dt="2026-09-17T13:01:16.941" v="232" actId="20577"/>
          <ac:spMkLst>
            <pc:docMk/>
            <pc:sldMk cId="1618759145" sldId="260"/>
            <ac:spMk id="5" creationId="{3E42F36E-5212-3B52-B1D2-5EA869F680B5}"/>
          </ac:spMkLst>
        </pc:spChg>
        <pc:graphicFrameChg chg="add mod">
          <ac:chgData name="GOPAL C" userId="cc329738cce8ef92" providerId="Windows Live" clId="Web-{76C9FE81-3670-4F79-8847-7AA14CFBBB9A}" dt="2026-09-17T13:01:01.128" v="227" actId="1076"/>
          <ac:graphicFrameMkLst>
            <pc:docMk/>
            <pc:sldMk cId="1618759145" sldId="260"/>
            <ac:graphicFrameMk id="3" creationId="{8118DD6B-57D8-4B5B-DCC1-8D31AD4A5F9D}"/>
          </ac:graphicFrameMkLst>
        </pc:graphicFrameChg>
      </pc:sldChg>
      <pc:sldChg chg="addSp modSp new">
        <pc:chgData name="GOPAL C" userId="cc329738cce8ef92" providerId="Windows Live" clId="Web-{76C9FE81-3670-4F79-8847-7AA14CFBBB9A}" dt="2026-09-17T13:17:03.885" v="513" actId="20577"/>
        <pc:sldMkLst>
          <pc:docMk/>
          <pc:sldMk cId="3920940362" sldId="261"/>
        </pc:sldMkLst>
        <pc:spChg chg="add mod">
          <ac:chgData name="GOPAL C" userId="cc329738cce8ef92" providerId="Windows Live" clId="Web-{76C9FE81-3670-4F79-8847-7AA14CFBBB9A}" dt="2026-09-17T13:17:03.885" v="513" actId="20577"/>
          <ac:spMkLst>
            <pc:docMk/>
            <pc:sldMk cId="3920940362" sldId="261"/>
            <ac:spMk id="2" creationId="{6D1BC70D-FFDB-EAB9-BBD6-A277738EF5E4}"/>
          </ac:spMkLst>
        </pc:spChg>
      </pc:sldChg>
      <pc:sldChg chg="addSp modSp new">
        <pc:chgData name="GOPAL C" userId="cc329738cce8ef92" providerId="Windows Live" clId="Web-{76C9FE81-3670-4F79-8847-7AA14CFBBB9A}" dt="2026-09-17T13:18:04.918" v="530" actId="20577"/>
        <pc:sldMkLst>
          <pc:docMk/>
          <pc:sldMk cId="3246234287" sldId="262"/>
        </pc:sldMkLst>
        <pc:spChg chg="add mod">
          <ac:chgData name="GOPAL C" userId="cc329738cce8ef92" providerId="Windows Live" clId="Web-{76C9FE81-3670-4F79-8847-7AA14CFBBB9A}" dt="2026-09-17T13:18:04.918" v="530" actId="20577"/>
          <ac:spMkLst>
            <pc:docMk/>
            <pc:sldMk cId="3246234287" sldId="262"/>
            <ac:spMk id="2" creationId="{A970D110-22F3-2BBE-9821-7382C3FD2342}"/>
          </ac:spMkLst>
        </pc:spChg>
      </pc:sldChg>
      <pc:sldChg chg="addSp modSp new">
        <pc:chgData name="GOPAL C" userId="cc329738cce8ef92" providerId="Windows Live" clId="Web-{76C9FE81-3670-4F79-8847-7AA14CFBBB9A}" dt="2026-09-17T13:06:33.561" v="324" actId="14100"/>
        <pc:sldMkLst>
          <pc:docMk/>
          <pc:sldMk cId="442949" sldId="263"/>
        </pc:sldMkLst>
        <pc:spChg chg="add mod">
          <ac:chgData name="GOPAL C" userId="cc329738cce8ef92" providerId="Windows Live" clId="Web-{76C9FE81-3670-4F79-8847-7AA14CFBBB9A}" dt="2026-09-17T13:06:33.561" v="324" actId="14100"/>
          <ac:spMkLst>
            <pc:docMk/>
            <pc:sldMk cId="442949" sldId="263"/>
            <ac:spMk id="2" creationId="{4824ED21-0506-5087-3161-70E6B7950FCE}"/>
          </ac:spMkLst>
        </pc:spChg>
      </pc:sldChg>
      <pc:sldChg chg="addSp modSp new">
        <pc:chgData name="GOPAL C" userId="cc329738cce8ef92" providerId="Windows Live" clId="Web-{76C9FE81-3670-4F79-8847-7AA14CFBBB9A}" dt="2026-09-17T13:09:06.021" v="372" actId="14100"/>
        <pc:sldMkLst>
          <pc:docMk/>
          <pc:sldMk cId="3065391452" sldId="264"/>
        </pc:sldMkLst>
        <pc:spChg chg="add mod">
          <ac:chgData name="GOPAL C" userId="cc329738cce8ef92" providerId="Windows Live" clId="Web-{76C9FE81-3670-4F79-8847-7AA14CFBBB9A}" dt="2026-09-17T13:09:06.021" v="372" actId="14100"/>
          <ac:spMkLst>
            <pc:docMk/>
            <pc:sldMk cId="3065391452" sldId="264"/>
            <ac:spMk id="4" creationId="{50D1DA13-BABD-56CC-C469-751F5A3B8253}"/>
          </ac:spMkLst>
        </pc:spChg>
        <pc:graphicFrameChg chg="add mod modGraphic">
          <ac:chgData name="GOPAL C" userId="cc329738cce8ef92" providerId="Windows Live" clId="Web-{76C9FE81-3670-4F79-8847-7AA14CFBBB9A}" dt="2026-09-17T13:08:45.176" v="360" actId="1076"/>
          <ac:graphicFrameMkLst>
            <pc:docMk/>
            <pc:sldMk cId="3065391452" sldId="264"/>
            <ac:graphicFrameMk id="3" creationId="{44ABB260-BDDA-9E69-2505-11566E17A3B4}"/>
          </ac:graphicFrameMkLst>
        </pc:graphicFrameChg>
      </pc:sldChg>
      <pc:sldChg chg="addSp modSp new">
        <pc:chgData name="GOPAL C" userId="cc329738cce8ef92" providerId="Windows Live" clId="Web-{76C9FE81-3670-4F79-8847-7AA14CFBBB9A}" dt="2026-09-17T13:10:47.605" v="405" actId="20577"/>
        <pc:sldMkLst>
          <pc:docMk/>
          <pc:sldMk cId="2007084475" sldId="265"/>
        </pc:sldMkLst>
        <pc:spChg chg="add mod">
          <ac:chgData name="GOPAL C" userId="cc329738cce8ef92" providerId="Windows Live" clId="Web-{76C9FE81-3670-4F79-8847-7AA14CFBBB9A}" dt="2026-09-17T13:10:47.605" v="405" actId="20577"/>
          <ac:spMkLst>
            <pc:docMk/>
            <pc:sldMk cId="2007084475" sldId="265"/>
            <ac:spMk id="2" creationId="{D362353D-DFE5-2CAA-0A10-9222EF175A96}"/>
          </ac:spMkLst>
        </pc:spChg>
      </pc:sldChg>
      <pc:sldChg chg="addSp modSp new">
        <pc:chgData name="GOPAL C" userId="cc329738cce8ef92" providerId="Windows Live" clId="Web-{76C9FE81-3670-4F79-8847-7AA14CFBBB9A}" dt="2026-09-17T13:12:01.296" v="436" actId="20577"/>
        <pc:sldMkLst>
          <pc:docMk/>
          <pc:sldMk cId="2908834451" sldId="266"/>
        </pc:sldMkLst>
        <pc:spChg chg="add mod">
          <ac:chgData name="GOPAL C" userId="cc329738cce8ef92" providerId="Windows Live" clId="Web-{76C9FE81-3670-4F79-8847-7AA14CFBBB9A}" dt="2026-09-17T13:12:01.296" v="436" actId="20577"/>
          <ac:spMkLst>
            <pc:docMk/>
            <pc:sldMk cId="2908834451" sldId="266"/>
            <ac:spMk id="2" creationId="{DFE82E43-11DF-18C8-359F-6D20252FE8BC}"/>
          </ac:spMkLst>
        </pc:spChg>
      </pc:sldChg>
      <pc:sldChg chg="addSp modSp new">
        <pc:chgData name="GOPAL C" userId="cc329738cce8ef92" providerId="Windows Live" clId="Web-{76C9FE81-3670-4F79-8847-7AA14CFBBB9A}" dt="2026-09-17T13:13:27.596" v="468" actId="20577"/>
        <pc:sldMkLst>
          <pc:docMk/>
          <pc:sldMk cId="4030002990" sldId="267"/>
        </pc:sldMkLst>
        <pc:spChg chg="add mod">
          <ac:chgData name="GOPAL C" userId="cc329738cce8ef92" providerId="Windows Live" clId="Web-{76C9FE81-3670-4F79-8847-7AA14CFBBB9A}" dt="2026-09-17T13:13:27.596" v="468" actId="20577"/>
          <ac:spMkLst>
            <pc:docMk/>
            <pc:sldMk cId="4030002990" sldId="267"/>
            <ac:spMk id="2" creationId="{05D403FB-7273-FBC8-E2AE-6CF9BF5FA332}"/>
          </ac:spMkLst>
        </pc:spChg>
      </pc:sldChg>
      <pc:sldChg chg="addSp modSp new">
        <pc:chgData name="GOPAL C" userId="cc329738cce8ef92" providerId="Windows Live" clId="Web-{76C9FE81-3670-4F79-8847-7AA14CFBBB9A}" dt="2026-09-17T13:14:12.817" v="502" actId="20577"/>
        <pc:sldMkLst>
          <pc:docMk/>
          <pc:sldMk cId="1163171384" sldId="268"/>
        </pc:sldMkLst>
        <pc:spChg chg="add mod">
          <ac:chgData name="GOPAL C" userId="cc329738cce8ef92" providerId="Windows Live" clId="Web-{76C9FE81-3670-4F79-8847-7AA14CFBBB9A}" dt="2026-09-17T13:14:12.817" v="502" actId="20577"/>
          <ac:spMkLst>
            <pc:docMk/>
            <pc:sldMk cId="1163171384" sldId="268"/>
            <ac:spMk id="2" creationId="{9430D651-FE63-F836-83EE-04A4A91F648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0B56B-65BB-FAA2-8DA9-FABE3351F067}"/>
              </a:ext>
            </a:extLst>
          </p:cNvPr>
          <p:cNvSpPr txBox="1"/>
          <p:nvPr/>
        </p:nvSpPr>
        <p:spPr>
          <a:xfrm>
            <a:off x="-9645" y="274899"/>
            <a:ext cx="11931569"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endParaRPr lang="en-US" dirty="0"/>
          </a:p>
          <a:p>
            <a:r>
              <a:rPr lang="en-US" sz="2800" b="1" dirty="0"/>
              <a:t>   Automated Road Damage Classification Using Deep Learning</a:t>
            </a:r>
            <a:endParaRPr lang="en-US" dirty="0"/>
          </a:p>
          <a:p>
            <a:endParaRPr lang="en-US" sz="2800" b="1" dirty="0"/>
          </a:p>
          <a:p>
            <a:endParaRPr lang="en-US" b="1" dirty="0"/>
          </a:p>
          <a:p>
            <a:r>
              <a:rPr lang="en-US" sz="2000" b="1" dirty="0"/>
              <a:t>Subtitle:</a:t>
            </a:r>
            <a:endParaRPr lang="en-US" sz="2000" dirty="0"/>
          </a:p>
          <a:p>
            <a:pPr lvl="1">
              <a:buFont typeface=""/>
              <a:buNone/>
            </a:pPr>
            <a:r>
              <a:rPr lang="en-US" sz="2000" dirty="0"/>
              <a:t>A Deep Learning-Based Approach for Automated Road Damage Detection</a:t>
            </a:r>
          </a:p>
          <a:p>
            <a:endParaRPr lang="en-US" sz="2000" b="1" dirty="0"/>
          </a:p>
          <a:p>
            <a:endParaRPr lang="en-US" sz="2000" b="1" dirty="0"/>
          </a:p>
          <a:p>
            <a:endParaRPr lang="en-US" sz="2000" b="1" dirty="0"/>
          </a:p>
          <a:p>
            <a:endParaRPr lang="en-US" sz="2000" b="1" dirty="0"/>
          </a:p>
          <a:p>
            <a:endParaRPr lang="en-US" sz="2000" b="1" dirty="0"/>
          </a:p>
          <a:p>
            <a:r>
              <a:rPr lang="en-US" sz="2000" b="1" dirty="0"/>
              <a:t>Presented by:</a:t>
            </a:r>
            <a:br>
              <a:rPr lang="en-US" sz="2000" dirty="0"/>
            </a:br>
            <a:r>
              <a:rPr lang="en-US" sz="2000" dirty="0"/>
              <a:t>Gopal</a:t>
            </a:r>
          </a:p>
          <a:p>
            <a:endParaRPr lang="en-US" sz="2000" b="1" dirty="0"/>
          </a:p>
          <a:p>
            <a:endParaRPr lang="en-US" sz="2000" b="1" dirty="0"/>
          </a:p>
          <a:p>
            <a:endParaRPr lang="en-US" sz="2000" b="1" dirty="0"/>
          </a:p>
          <a:p>
            <a:r>
              <a:rPr lang="en-US" sz="2000" b="1" dirty="0"/>
              <a:t>Technologies:</a:t>
            </a:r>
            <a:br>
              <a:rPr lang="en-US" sz="2000" dirty="0"/>
            </a:br>
            <a:r>
              <a:rPr lang="en-US" sz="2000" dirty="0"/>
              <a:t>Python | TensorFlow | ResNet50 | </a:t>
            </a:r>
            <a:r>
              <a:rPr lang="en-US" sz="2000" dirty="0" err="1"/>
              <a:t>Streamlit</a:t>
            </a:r>
            <a:endParaRPr lang="en-US" sz="2000" dirty="0"/>
          </a:p>
          <a:p>
            <a:pPr algn="ctr"/>
            <a:endParaRPr lang="en-US"/>
          </a:p>
        </p:txBody>
      </p:sp>
    </p:spTree>
    <p:extLst>
      <p:ext uri="{BB962C8B-B14F-4D97-AF65-F5344CB8AC3E}">
        <p14:creationId xmlns:p14="http://schemas.microsoft.com/office/powerpoint/2010/main" val="18713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B54796-83C3-FDF0-A50F-C421EF77D620}"/>
              </a:ext>
            </a:extLst>
          </p:cNvPr>
          <p:cNvSpPr txBox="1"/>
          <p:nvPr/>
        </p:nvSpPr>
        <p:spPr>
          <a:xfrm>
            <a:off x="1" y="168799"/>
            <a:ext cx="12191997" cy="6617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Problem Statement</a:t>
            </a:r>
          </a:p>
          <a:p>
            <a:endParaRPr lang="en-US" sz="2800" b="1" dirty="0"/>
          </a:p>
          <a:p>
            <a:pPr>
              <a:buFont typeface=""/>
              <a:buChar char="•"/>
            </a:pPr>
            <a:r>
              <a:rPr lang="en-US" sz="2800" dirty="0"/>
              <a:t>Road damage such as </a:t>
            </a:r>
            <a:r>
              <a:rPr lang="en-US" sz="2800" b="1" dirty="0"/>
              <a:t>potholes, cracks, and manhole-related damage</a:t>
            </a:r>
            <a:r>
              <a:rPr lang="en-US" sz="2800" dirty="0"/>
              <a:t> can affect road safety. </a:t>
            </a:r>
            <a:endParaRPr lang="en-US" dirty="0"/>
          </a:p>
          <a:p>
            <a:pPr>
              <a:buFont typeface=""/>
              <a:buChar char="•"/>
            </a:pPr>
            <a:r>
              <a:rPr lang="en-US" sz="2800" dirty="0"/>
              <a:t>Manual road inspection requires </a:t>
            </a:r>
            <a:r>
              <a:rPr lang="en-US" sz="2800" b="1" dirty="0"/>
              <a:t>time and human effort</a:t>
            </a:r>
            <a:r>
              <a:rPr lang="en-US" sz="2800" dirty="0"/>
              <a:t>. </a:t>
            </a:r>
            <a:endParaRPr lang="en-US" dirty="0"/>
          </a:p>
          <a:p>
            <a:pPr>
              <a:buFont typeface=""/>
              <a:buChar char="•"/>
            </a:pPr>
            <a:r>
              <a:rPr lang="en-US" sz="2800" dirty="0"/>
              <a:t>Identifying damage from a large number of road images is difficult to do manually. </a:t>
            </a:r>
            <a:endParaRPr lang="en-US" dirty="0"/>
          </a:p>
          <a:p>
            <a:pPr>
              <a:buFont typeface=""/>
              <a:buChar char="•"/>
            </a:pPr>
            <a:r>
              <a:rPr lang="en-US" sz="2800" dirty="0"/>
              <a:t>An automated system can help </a:t>
            </a:r>
            <a:r>
              <a:rPr lang="en-US" sz="2800" b="1" dirty="0"/>
              <a:t>classify road damage quickly from images</a:t>
            </a:r>
            <a:r>
              <a:rPr lang="en-US" sz="2800" dirty="0"/>
              <a:t>. </a:t>
            </a:r>
            <a:endParaRPr lang="en-US" dirty="0"/>
          </a:p>
          <a:p>
            <a:pPr>
              <a:buFont typeface=""/>
              <a:buChar char="•"/>
            </a:pPr>
            <a:r>
              <a:rPr lang="en-US" sz="2800" dirty="0"/>
              <a:t>Therefore, this project uses </a:t>
            </a:r>
            <a:r>
              <a:rPr lang="en-US" sz="2800" b="1" dirty="0"/>
              <a:t>Deep Learning and Computer Vision</a:t>
            </a:r>
            <a:r>
              <a:rPr lang="en-US" sz="2800" dirty="0"/>
              <a:t> for automated road damage classification.</a:t>
            </a:r>
            <a:endParaRPr lang="en-US"/>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r>
              <a:rPr lang="en-US" dirty="0">
                <a:ea typeface="+mn-lt"/>
                <a:cs typeface="+mn-lt"/>
              </a:rPr>
              <a:t>"The main problem is that manual road inspection takes more time and human effort. So, our project uses deep learning to automatically classify road damage images into pothole, crack, and manhole categories".</a:t>
            </a:r>
            <a:endParaRPr lang="en-US"/>
          </a:p>
          <a:p>
            <a:pPr algn="ctr"/>
            <a:endParaRPr lang="en-US" dirty="0"/>
          </a:p>
        </p:txBody>
      </p:sp>
    </p:spTree>
    <p:extLst>
      <p:ext uri="{BB962C8B-B14F-4D97-AF65-F5344CB8AC3E}">
        <p14:creationId xmlns:p14="http://schemas.microsoft.com/office/powerpoint/2010/main" val="1878435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CF444-A3E5-87E7-E72D-8F1B85AD95F3}"/>
              </a:ext>
            </a:extLst>
          </p:cNvPr>
          <p:cNvSpPr txBox="1"/>
          <p:nvPr/>
        </p:nvSpPr>
        <p:spPr>
          <a:xfrm>
            <a:off x="0" y="-4822"/>
            <a:ext cx="12201645" cy="97872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Project Objectives</a:t>
            </a:r>
          </a:p>
          <a:p>
            <a:pPr marL="228600" indent="-228600">
              <a:buFont typeface=""/>
              <a:buChar char="•"/>
            </a:pPr>
            <a:r>
              <a:rPr lang="en-US" sz="2400" dirty="0"/>
              <a:t>To classify road damage into </a:t>
            </a:r>
            <a:r>
              <a:rPr lang="en-US" sz="2400" b="1" dirty="0"/>
              <a:t>3 categories</a:t>
            </a:r>
            <a:r>
              <a:rPr lang="en-US" sz="2400" dirty="0"/>
              <a:t>: </a:t>
            </a:r>
          </a:p>
          <a:p>
            <a:pPr marL="228600" lvl="1" indent="-228600">
              <a:buFont typeface=""/>
              <a:buChar char="•"/>
            </a:pPr>
            <a:r>
              <a:rPr lang="en-US" sz="2400" dirty="0"/>
              <a:t>Pothole </a:t>
            </a:r>
          </a:p>
          <a:p>
            <a:pPr marL="228600" lvl="1" indent="-228600">
              <a:buFont typeface=""/>
              <a:buChar char="•"/>
            </a:pPr>
            <a:r>
              <a:rPr lang="en-US" sz="2400" dirty="0"/>
              <a:t>Crack </a:t>
            </a:r>
          </a:p>
          <a:p>
            <a:pPr marL="228600" lvl="1" indent="-228600">
              <a:buFont typeface=""/>
              <a:buChar char="•"/>
            </a:pPr>
            <a:r>
              <a:rPr lang="en-US" sz="2400" dirty="0"/>
              <a:t>Manhole </a:t>
            </a:r>
          </a:p>
          <a:p>
            <a:pPr>
              <a:buFont typeface=""/>
              <a:buChar char="•"/>
            </a:pPr>
            <a:r>
              <a:rPr lang="en-US" sz="2400" dirty="0"/>
              <a:t>To preprocess and augment road-damage images. </a:t>
            </a:r>
          </a:p>
          <a:p>
            <a:pPr>
              <a:buFont typeface=""/>
              <a:buChar char="•"/>
            </a:pPr>
            <a:r>
              <a:rPr lang="en-US" sz="2400" dirty="0"/>
              <a:t>To build a </a:t>
            </a:r>
            <a:r>
              <a:rPr lang="en-US" sz="2400" b="1" dirty="0"/>
              <a:t>Baseline CNN</a:t>
            </a:r>
            <a:r>
              <a:rPr lang="en-US" sz="2400" dirty="0"/>
              <a:t> model. </a:t>
            </a:r>
          </a:p>
          <a:p>
            <a:pPr>
              <a:buFont typeface=""/>
              <a:buChar char="•"/>
            </a:pPr>
            <a:r>
              <a:rPr lang="en-US" sz="2400" dirty="0"/>
              <a:t>To use </a:t>
            </a:r>
            <a:r>
              <a:rPr lang="en-US" sz="2400" b="1" dirty="0"/>
              <a:t>ResNet50 Transfer Learning</a:t>
            </a:r>
            <a:r>
              <a:rPr lang="en-US" sz="2400" dirty="0"/>
              <a:t> for improved classification. </a:t>
            </a:r>
          </a:p>
          <a:p>
            <a:pPr>
              <a:buFont typeface=""/>
              <a:buChar char="•"/>
            </a:pPr>
            <a:r>
              <a:rPr lang="en-US" sz="2400" dirty="0"/>
              <a:t>To handle class imbalance using </a:t>
            </a:r>
            <a:r>
              <a:rPr lang="en-US" sz="2400" b="1" dirty="0"/>
              <a:t>class weights</a:t>
            </a:r>
            <a:r>
              <a:rPr lang="en-US" sz="2400" dirty="0"/>
              <a:t>. </a:t>
            </a:r>
          </a:p>
          <a:p>
            <a:pPr>
              <a:buFont typeface=""/>
              <a:buChar char="•"/>
            </a:pPr>
            <a:r>
              <a:rPr lang="en-US" sz="2400" dirty="0"/>
              <a:t>To evaluate the models using </a:t>
            </a:r>
            <a:r>
              <a:rPr lang="en-US" sz="2400" b="1" dirty="0"/>
              <a:t>Accuracy, Precision, Recall, and F1-Score</a:t>
            </a:r>
            <a:r>
              <a:rPr lang="en-US" sz="2400" dirty="0"/>
              <a:t>. </a:t>
            </a:r>
          </a:p>
          <a:p>
            <a:pPr>
              <a:buFont typeface=""/>
              <a:buChar char="•"/>
            </a:pPr>
            <a:r>
              <a:rPr lang="en-US" sz="2400" dirty="0"/>
              <a:t>To use </a:t>
            </a:r>
            <a:r>
              <a:rPr lang="en-US" sz="2400" b="1" dirty="0"/>
              <a:t>Grad-CAM</a:t>
            </a:r>
            <a:r>
              <a:rPr lang="en-US" sz="2400" dirty="0"/>
              <a:t> for model explainability. </a:t>
            </a:r>
          </a:p>
          <a:p>
            <a:pPr>
              <a:buFont typeface=""/>
              <a:buChar char="•"/>
            </a:pPr>
            <a:r>
              <a:rPr lang="en-US" sz="2400" dirty="0"/>
              <a:t>To develop a simple </a:t>
            </a:r>
            <a:r>
              <a:rPr lang="en-US" sz="2400" b="1" dirty="0" err="1"/>
              <a:t>Streamlit</a:t>
            </a:r>
            <a:r>
              <a:rPr lang="en-US" sz="2400" b="1" dirty="0"/>
              <a:t> web application</a:t>
            </a:r>
            <a:r>
              <a:rPr lang="en-US" sz="2400" dirty="0"/>
              <a:t> for image-based prediction. </a:t>
            </a:r>
          </a:p>
          <a:p>
            <a:endParaRPr lang="en-US" sz="2400" dirty="0">
              <a:ea typeface="+mn-lt"/>
              <a:cs typeface="+mn-lt"/>
            </a:endParaRPr>
          </a:p>
          <a:p>
            <a:endParaRPr lang="en-US" sz="2400" dirty="0">
              <a:ea typeface="+mn-lt"/>
              <a:cs typeface="+mn-lt"/>
            </a:endParaRPr>
          </a:p>
          <a:p>
            <a:endParaRPr lang="en-US" sz="2400" dirty="0">
              <a:ea typeface="+mn-lt"/>
              <a:cs typeface="+mn-lt"/>
            </a:endParaRPr>
          </a:p>
          <a:p>
            <a:r>
              <a:rPr lang="en-US" dirty="0">
                <a:ea typeface="+mn-lt"/>
                <a:cs typeface="+mn-lt"/>
              </a:rPr>
              <a:t>“The main objective of our project is to automatically classify road damage into three categories. We first build a baseline CNN and then use ResNet50 transfer learning. Finally, we evaluate the model, use Grad-CAM for explainability, and integrate the model into a </a:t>
            </a:r>
            <a:r>
              <a:rPr lang="en-US" dirty="0" err="1">
                <a:ea typeface="+mn-lt"/>
                <a:cs typeface="+mn-lt"/>
              </a:rPr>
              <a:t>Streamlit</a:t>
            </a:r>
            <a:r>
              <a:rPr lang="en-US" dirty="0">
                <a:ea typeface="+mn-lt"/>
                <a:cs typeface="+mn-lt"/>
              </a:rPr>
              <a:t> application.”</a:t>
            </a:r>
          </a:p>
          <a:p>
            <a:pPr algn="ctr"/>
            <a:endParaRPr lang="en-US"/>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77052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118DD6B-57D8-4B5B-DCC1-8D31AD4A5F9D}"/>
              </a:ext>
            </a:extLst>
          </p:cNvPr>
          <p:cNvGraphicFramePr>
            <a:graphicFrameLocks noGrp="1"/>
          </p:cNvGraphicFramePr>
          <p:nvPr>
            <p:extLst>
              <p:ext uri="{D42A27DB-BD31-4B8C-83A1-F6EECF244321}">
                <p14:modId xmlns:p14="http://schemas.microsoft.com/office/powerpoint/2010/main" val="642141675"/>
              </p:ext>
            </p:extLst>
          </p:nvPr>
        </p:nvGraphicFramePr>
        <p:xfrm>
          <a:off x="0" y="2514600"/>
          <a:ext cx="12192000" cy="1828800"/>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2376692542"/>
                    </a:ext>
                  </a:extLst>
                </a:gridCol>
                <a:gridCol w="4064000">
                  <a:extLst>
                    <a:ext uri="{9D8B030D-6E8A-4147-A177-3AD203B41FA5}">
                      <a16:colId xmlns:a16="http://schemas.microsoft.com/office/drawing/2014/main" val="2480414901"/>
                    </a:ext>
                  </a:extLst>
                </a:gridCol>
                <a:gridCol w="4064000">
                  <a:extLst>
                    <a:ext uri="{9D8B030D-6E8A-4147-A177-3AD203B41FA5}">
                      <a16:colId xmlns:a16="http://schemas.microsoft.com/office/drawing/2014/main" val="3946299180"/>
                    </a:ext>
                  </a:extLst>
                </a:gridCol>
              </a:tblGrid>
              <a:tr h="0">
                <a:tc>
                  <a:txBody>
                    <a:bodyPr/>
                    <a:lstStyle/>
                    <a:p>
                      <a:pPr>
                        <a:buNone/>
                      </a:pPr>
                      <a:r>
                        <a:rPr lang="en-US"/>
                        <a:t>Class</a:t>
                      </a:r>
                    </a:p>
                  </a:txBody>
                  <a:tcPr anchor="ctr">
                    <a:lnL>
                      <a:noFill/>
                    </a:lnL>
                    <a:lnR>
                      <a:noFill/>
                    </a:lnR>
                    <a:lnT>
                      <a:noFill/>
                    </a:lnT>
                    <a:lnB>
                      <a:noFill/>
                    </a:lnB>
                    <a:noFill/>
                  </a:tcPr>
                </a:tc>
                <a:tc>
                  <a:txBody>
                    <a:bodyPr/>
                    <a:lstStyle/>
                    <a:p>
                      <a:pPr>
                        <a:buNone/>
                      </a:pPr>
                      <a:r>
                        <a:rPr lang="en-US"/>
                        <a:t>Damage Type</a:t>
                      </a:r>
                    </a:p>
                  </a:txBody>
                  <a:tcPr anchor="ctr">
                    <a:lnL>
                      <a:noFill/>
                    </a:lnL>
                    <a:lnR>
                      <a:noFill/>
                    </a:lnR>
                    <a:lnT>
                      <a:noFill/>
                    </a:lnT>
                    <a:lnB>
                      <a:noFill/>
                    </a:lnB>
                    <a:noFill/>
                  </a:tcPr>
                </a:tc>
                <a:tc>
                  <a:txBody>
                    <a:bodyPr/>
                    <a:lstStyle/>
                    <a:p>
                      <a:pPr>
                        <a:buNone/>
                      </a:pPr>
                      <a:r>
                        <a:rPr lang="en-US"/>
                        <a:t>Crops</a:t>
                      </a:r>
                    </a:p>
                  </a:txBody>
                  <a:tcPr anchor="ctr">
                    <a:lnL>
                      <a:noFill/>
                    </a:lnL>
                    <a:lnR>
                      <a:noFill/>
                    </a:lnR>
                    <a:lnT>
                      <a:noFill/>
                    </a:lnT>
                    <a:lnB>
                      <a:noFill/>
                    </a:lnB>
                    <a:noFill/>
                  </a:tcPr>
                </a:tc>
                <a:extLst>
                  <a:ext uri="{0D108BD9-81ED-4DB2-BD59-A6C34878D82A}">
                    <a16:rowId xmlns:a16="http://schemas.microsoft.com/office/drawing/2014/main" val="2322424222"/>
                  </a:ext>
                </a:extLst>
              </a:tr>
              <a:tr h="0">
                <a:tc>
                  <a:txBody>
                    <a:bodyPr/>
                    <a:lstStyle/>
                    <a:p>
                      <a:pPr>
                        <a:buNone/>
                      </a:pPr>
                      <a:r>
                        <a:rPr lang="en-US"/>
                        <a:t>0</a:t>
                      </a:r>
                    </a:p>
                  </a:txBody>
                  <a:tcPr anchor="ctr">
                    <a:lnL>
                      <a:noFill/>
                    </a:lnL>
                    <a:lnR>
                      <a:noFill/>
                    </a:lnR>
                    <a:lnT>
                      <a:noFill/>
                    </a:lnT>
                    <a:lnB>
                      <a:noFill/>
                    </a:lnB>
                    <a:noFill/>
                  </a:tcPr>
                </a:tc>
                <a:tc>
                  <a:txBody>
                    <a:bodyPr/>
                    <a:lstStyle/>
                    <a:p>
                      <a:pPr>
                        <a:buNone/>
                      </a:pPr>
                      <a:r>
                        <a:rPr lang="en-US"/>
                        <a:t>Pothole</a:t>
                      </a:r>
                    </a:p>
                  </a:txBody>
                  <a:tcPr anchor="ctr">
                    <a:lnL>
                      <a:noFill/>
                    </a:lnL>
                    <a:lnR>
                      <a:noFill/>
                    </a:lnR>
                    <a:lnT>
                      <a:noFill/>
                    </a:lnT>
                    <a:lnB>
                      <a:noFill/>
                    </a:lnB>
                    <a:noFill/>
                  </a:tcPr>
                </a:tc>
                <a:tc>
                  <a:txBody>
                    <a:bodyPr/>
                    <a:lstStyle/>
                    <a:p>
                      <a:pPr>
                        <a:buNone/>
                      </a:pPr>
                      <a:r>
                        <a:rPr lang="en-US"/>
                        <a:t>360</a:t>
                      </a:r>
                    </a:p>
                  </a:txBody>
                  <a:tcPr anchor="ctr">
                    <a:lnL>
                      <a:noFill/>
                    </a:lnL>
                    <a:lnR>
                      <a:noFill/>
                    </a:lnR>
                    <a:lnT>
                      <a:noFill/>
                    </a:lnT>
                    <a:lnB>
                      <a:noFill/>
                    </a:lnB>
                    <a:noFill/>
                  </a:tcPr>
                </a:tc>
                <a:extLst>
                  <a:ext uri="{0D108BD9-81ED-4DB2-BD59-A6C34878D82A}">
                    <a16:rowId xmlns:a16="http://schemas.microsoft.com/office/drawing/2014/main" val="2714502861"/>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Crack</a:t>
                      </a:r>
                    </a:p>
                  </a:txBody>
                  <a:tcPr anchor="ctr">
                    <a:lnL>
                      <a:noFill/>
                    </a:lnL>
                    <a:lnR>
                      <a:noFill/>
                    </a:lnR>
                    <a:lnT>
                      <a:noFill/>
                    </a:lnT>
                    <a:lnB>
                      <a:noFill/>
                    </a:lnB>
                    <a:noFill/>
                  </a:tcPr>
                </a:tc>
                <a:tc>
                  <a:txBody>
                    <a:bodyPr/>
                    <a:lstStyle/>
                    <a:p>
                      <a:pPr>
                        <a:buNone/>
                      </a:pPr>
                      <a:r>
                        <a:rPr lang="en-US"/>
                        <a:t>567</a:t>
                      </a:r>
                    </a:p>
                  </a:txBody>
                  <a:tcPr anchor="ctr">
                    <a:lnL>
                      <a:noFill/>
                    </a:lnL>
                    <a:lnR>
                      <a:noFill/>
                    </a:lnR>
                    <a:lnT>
                      <a:noFill/>
                    </a:lnT>
                    <a:lnB>
                      <a:noFill/>
                    </a:lnB>
                    <a:noFill/>
                  </a:tcPr>
                </a:tc>
                <a:extLst>
                  <a:ext uri="{0D108BD9-81ED-4DB2-BD59-A6C34878D82A}">
                    <a16:rowId xmlns:a16="http://schemas.microsoft.com/office/drawing/2014/main" val="2068303524"/>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Manhole</a:t>
                      </a:r>
                    </a:p>
                  </a:txBody>
                  <a:tcPr anchor="ctr">
                    <a:lnL>
                      <a:noFill/>
                    </a:lnL>
                    <a:lnR>
                      <a:noFill/>
                    </a:lnR>
                    <a:lnT>
                      <a:noFill/>
                    </a:lnT>
                    <a:lnB>
                      <a:noFill/>
                    </a:lnB>
                    <a:noFill/>
                  </a:tcPr>
                </a:tc>
                <a:tc>
                  <a:txBody>
                    <a:bodyPr/>
                    <a:lstStyle/>
                    <a:p>
                      <a:pPr>
                        <a:buNone/>
                      </a:pPr>
                      <a:r>
                        <a:rPr lang="en-US"/>
                        <a:t>99</a:t>
                      </a:r>
                    </a:p>
                  </a:txBody>
                  <a:tcPr anchor="ctr">
                    <a:lnL>
                      <a:noFill/>
                    </a:lnL>
                    <a:lnR>
                      <a:noFill/>
                    </a:lnR>
                    <a:lnT>
                      <a:noFill/>
                    </a:lnT>
                    <a:lnB>
                      <a:noFill/>
                    </a:lnB>
                    <a:noFill/>
                  </a:tcPr>
                </a:tc>
                <a:extLst>
                  <a:ext uri="{0D108BD9-81ED-4DB2-BD59-A6C34878D82A}">
                    <a16:rowId xmlns:a16="http://schemas.microsoft.com/office/drawing/2014/main" val="2034301571"/>
                  </a:ext>
                </a:extLst>
              </a:tr>
              <a:tr h="0">
                <a:tc>
                  <a:txBody>
                    <a:bodyPr/>
                    <a:lstStyle/>
                    <a:p>
                      <a:pPr>
                        <a:buNone/>
                      </a:pPr>
                      <a:r>
                        <a:rPr lang="en-US" b="1"/>
                        <a:t>Total</a:t>
                      </a: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r>
                        <a:rPr lang="en-US" b="1"/>
                        <a:t>1,026</a:t>
                      </a:r>
                      <a:endParaRPr lang="en-US"/>
                    </a:p>
                  </a:txBody>
                  <a:tcPr anchor="ctr">
                    <a:lnL>
                      <a:noFill/>
                    </a:lnL>
                    <a:lnR>
                      <a:noFill/>
                    </a:lnR>
                    <a:lnT>
                      <a:noFill/>
                    </a:lnT>
                    <a:lnB>
                      <a:noFill/>
                    </a:lnB>
                    <a:noFill/>
                  </a:tcPr>
                </a:tc>
                <a:extLst>
                  <a:ext uri="{0D108BD9-81ED-4DB2-BD59-A6C34878D82A}">
                    <a16:rowId xmlns:a16="http://schemas.microsoft.com/office/drawing/2014/main" val="3243191669"/>
                  </a:ext>
                </a:extLst>
              </a:tr>
            </a:tbl>
          </a:graphicData>
        </a:graphic>
      </p:graphicFrame>
      <p:sp>
        <p:nvSpPr>
          <p:cNvPr id="4" name="TextBox 3">
            <a:extLst>
              <a:ext uri="{FF2B5EF4-FFF2-40B4-BE49-F238E27FC236}">
                <a16:creationId xmlns:a16="http://schemas.microsoft.com/office/drawing/2014/main" id="{0D98B835-518D-6CDF-FE32-FA7C592B27B4}"/>
              </a:ext>
            </a:extLst>
          </p:cNvPr>
          <p:cNvSpPr txBox="1"/>
          <p:nvPr/>
        </p:nvSpPr>
        <p:spPr>
          <a:xfrm>
            <a:off x="0" y="4823"/>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Dataset Used</a:t>
            </a:r>
          </a:p>
          <a:p>
            <a:endParaRPr lang="en-US" b="1" dirty="0"/>
          </a:p>
          <a:p>
            <a:pPr>
              <a:buFont typeface=""/>
              <a:buChar char="•"/>
            </a:pPr>
            <a:r>
              <a:rPr lang="en-US" b="1" dirty="0"/>
              <a:t>Dataset:</a:t>
            </a:r>
            <a:r>
              <a:rPr lang="en-US" dirty="0"/>
              <a:t> RDD2020 – Road Damage Dataset </a:t>
            </a:r>
          </a:p>
          <a:p>
            <a:pPr>
              <a:buFont typeface=""/>
              <a:buChar char="•"/>
            </a:pPr>
            <a:r>
              <a:rPr lang="en-US" dirty="0"/>
              <a:t>Original data contains road images with </a:t>
            </a:r>
            <a:r>
              <a:rPr lang="en-US" b="1" dirty="0"/>
              <a:t>COCO-format bounding-box annotations</a:t>
            </a:r>
            <a:r>
              <a:rPr lang="en-US" dirty="0"/>
              <a:t>. </a:t>
            </a:r>
          </a:p>
          <a:p>
            <a:pPr>
              <a:buFont typeface=""/>
              <a:buChar char="•"/>
            </a:pPr>
            <a:r>
              <a:rPr lang="en-US" dirty="0"/>
              <a:t>We used the available images and extracted individual damage regions using bounding boxes. </a:t>
            </a:r>
          </a:p>
          <a:p>
            <a:pPr>
              <a:buFont typeface=""/>
              <a:buChar char="•"/>
            </a:pPr>
            <a:r>
              <a:rPr lang="en-US" dirty="0"/>
              <a:t>Final classification dataset: </a:t>
            </a:r>
            <a:r>
              <a:rPr lang="en-US" b="1" dirty="0"/>
              <a:t>1,026 damage crops</a:t>
            </a:r>
            <a:r>
              <a:rPr lang="en-US" dirty="0"/>
              <a:t> </a:t>
            </a:r>
          </a:p>
          <a:p>
            <a:pPr>
              <a:buFont typeface=""/>
              <a:buChar char="•"/>
            </a:pPr>
            <a:r>
              <a:rPr lang="en-US" dirty="0"/>
              <a:t>Number of classes: </a:t>
            </a:r>
            <a:r>
              <a:rPr lang="en-US" b="1" dirty="0"/>
              <a:t>3</a:t>
            </a:r>
            <a:r>
              <a:rPr lang="en-US" dirty="0"/>
              <a:t> </a:t>
            </a:r>
          </a:p>
          <a:p>
            <a:endParaRPr lang="en-US"/>
          </a:p>
          <a:p>
            <a:endParaRPr lang="en-US"/>
          </a:p>
        </p:txBody>
      </p:sp>
      <p:sp>
        <p:nvSpPr>
          <p:cNvPr id="5" name="TextBox 4">
            <a:extLst>
              <a:ext uri="{FF2B5EF4-FFF2-40B4-BE49-F238E27FC236}">
                <a16:creationId xmlns:a16="http://schemas.microsoft.com/office/drawing/2014/main" id="{3E42F36E-5212-3B52-B1D2-5EA869F680B5}"/>
              </a:ext>
            </a:extLst>
          </p:cNvPr>
          <p:cNvSpPr txBox="1"/>
          <p:nvPr/>
        </p:nvSpPr>
        <p:spPr>
          <a:xfrm>
            <a:off x="0" y="4345329"/>
            <a:ext cx="12191999"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800" b="1" i="0" u="none" strike="noStrike" baseline="0" dirty="0">
                <a:solidFill>
                  <a:srgbClr val="000000"/>
                </a:solidFill>
                <a:latin typeface="Aptos"/>
                <a:ea typeface="Segoe UI"/>
                <a:cs typeface="Segoe UI"/>
              </a:rPr>
              <a:t>Dataset Split</a:t>
            </a:r>
            <a:r>
              <a:rPr lang="en-US" sz="1800" b="0" i="0" dirty="0">
                <a:solidFill>
                  <a:srgbClr val="000000"/>
                </a:solidFill>
                <a:latin typeface="Aptos"/>
                <a:ea typeface="Segoe UI"/>
                <a:cs typeface="Segoe UI"/>
              </a:rPr>
              <a:t>​</a:t>
            </a:r>
          </a:p>
          <a:p>
            <a:pPr marL="228600" lvl="0" indent="-228600" algn="l" rtl="0">
              <a:buFont typeface=""/>
              <a:buChar char="•"/>
            </a:pPr>
            <a:r>
              <a:rPr lang="en-US" sz="1800" b="0" i="0" u="none" strike="noStrike" baseline="0" dirty="0">
                <a:solidFill>
                  <a:srgbClr val="000000"/>
                </a:solidFill>
                <a:latin typeface="Aptos"/>
                <a:ea typeface="Arial"/>
                <a:cs typeface="Arial"/>
              </a:rPr>
              <a:t>Training: </a:t>
            </a:r>
            <a:r>
              <a:rPr lang="en-US" sz="1800" b="1" i="0" u="none" strike="noStrike" baseline="0" dirty="0">
                <a:solidFill>
                  <a:srgbClr val="000000"/>
                </a:solidFill>
                <a:latin typeface="Aptos"/>
                <a:ea typeface="Arial"/>
                <a:cs typeface="Arial"/>
              </a:rPr>
              <a:t>702</a:t>
            </a:r>
            <a:r>
              <a:rPr lang="en-US" sz="1800" b="0" i="0" u="none" strike="noStrike" baseline="0" dirty="0">
                <a:solidFill>
                  <a:srgbClr val="000000"/>
                </a:solidFill>
                <a:latin typeface="Aptos"/>
                <a:ea typeface="Arial"/>
                <a:cs typeface="Arial"/>
              </a:rPr>
              <a:t> </a:t>
            </a:r>
            <a:r>
              <a:rPr lang="en-US" sz="1800" b="0" i="0" dirty="0">
                <a:solidFill>
                  <a:srgbClr val="000000"/>
                </a:solidFill>
                <a:latin typeface="Aptos"/>
                <a:ea typeface="Arial"/>
                <a:cs typeface="Arial"/>
              </a:rPr>
              <a:t>​</a:t>
            </a:r>
          </a:p>
          <a:p>
            <a:pPr marL="228600" lvl="0" indent="-228600" algn="l" rtl="0">
              <a:buFont typeface=""/>
              <a:buChar char="•"/>
            </a:pPr>
            <a:r>
              <a:rPr lang="en-US" sz="1800" b="0" i="0" u="none" strike="noStrike" baseline="0" dirty="0">
                <a:solidFill>
                  <a:srgbClr val="000000"/>
                </a:solidFill>
                <a:latin typeface="Aptos"/>
                <a:ea typeface="Arial"/>
                <a:cs typeface="Arial"/>
              </a:rPr>
              <a:t>Validation: </a:t>
            </a:r>
            <a:r>
              <a:rPr lang="en-US" sz="1800" b="1" i="0" u="none" strike="noStrike" baseline="0" dirty="0">
                <a:solidFill>
                  <a:srgbClr val="000000"/>
                </a:solidFill>
                <a:latin typeface="Aptos"/>
                <a:ea typeface="Arial"/>
                <a:cs typeface="Arial"/>
              </a:rPr>
              <a:t>173</a:t>
            </a:r>
            <a:r>
              <a:rPr lang="en-US" sz="1800" b="0" i="0" u="none" strike="noStrike" baseline="0" dirty="0">
                <a:solidFill>
                  <a:srgbClr val="000000"/>
                </a:solidFill>
                <a:latin typeface="Aptos"/>
                <a:ea typeface="Arial"/>
                <a:cs typeface="Arial"/>
              </a:rPr>
              <a:t> </a:t>
            </a:r>
            <a:r>
              <a:rPr lang="en-US" sz="1800" b="0" i="0" dirty="0">
                <a:solidFill>
                  <a:srgbClr val="000000"/>
                </a:solidFill>
                <a:latin typeface="Aptos"/>
                <a:ea typeface="Arial"/>
                <a:cs typeface="Arial"/>
              </a:rPr>
              <a:t>​</a:t>
            </a:r>
          </a:p>
          <a:p>
            <a:pPr marL="228600" lvl="0" indent="-228600" algn="l" rtl="0">
              <a:buFont typeface=""/>
              <a:buChar char="•"/>
            </a:pPr>
            <a:r>
              <a:rPr lang="en-US" sz="1800" b="0" i="0" u="none" strike="noStrike" baseline="0" dirty="0">
                <a:solidFill>
                  <a:srgbClr val="000000"/>
                </a:solidFill>
                <a:latin typeface="Aptos"/>
                <a:ea typeface="Arial"/>
                <a:cs typeface="Arial"/>
              </a:rPr>
              <a:t>Testing: </a:t>
            </a:r>
            <a:r>
              <a:rPr lang="en-US" sz="1800" b="1" i="0" u="none" strike="noStrike" baseline="0" dirty="0">
                <a:solidFill>
                  <a:srgbClr val="000000"/>
                </a:solidFill>
                <a:latin typeface="Aptos"/>
                <a:ea typeface="Arial"/>
                <a:cs typeface="Arial"/>
              </a:rPr>
              <a:t>151</a:t>
            </a:r>
            <a:r>
              <a:rPr lang="en-US" sz="1800" b="0" i="0" dirty="0">
                <a:solidFill>
                  <a:srgbClr val="000000"/>
                </a:solidFill>
                <a:latin typeface="Aptos"/>
                <a:ea typeface="Arial"/>
                <a:cs typeface="Arial"/>
              </a:rPr>
              <a:t>​</a:t>
            </a:r>
          </a:p>
          <a:p>
            <a:pPr marL="228600" indent="-228600">
              <a:buFont typeface=""/>
              <a:buChar char="•"/>
            </a:pPr>
            <a:endParaRPr lang="en-US" dirty="0">
              <a:ea typeface="+mn-lt"/>
              <a:cs typeface="Arial"/>
            </a:endParaRPr>
          </a:p>
          <a:p>
            <a:pPr algn="ctr"/>
            <a:r>
              <a:rPr lang="en-US" sz="1600" dirty="0">
                <a:ea typeface="+mn-lt"/>
                <a:cs typeface="+mn-lt"/>
              </a:rPr>
              <a:t>“We used the RDD2020 road damage dataset. Since one road image can contain multiple damage types, we used the bounding-box annotations to extract individual damage regions. Finally, we created 1,026 image crops belonging to three classes: pothole, crack and manhole.”</a:t>
            </a:r>
            <a:endParaRPr lang="en-US" sz="1600" dirty="0"/>
          </a:p>
        </p:txBody>
      </p:sp>
    </p:spTree>
    <p:extLst>
      <p:ext uri="{BB962C8B-B14F-4D97-AF65-F5344CB8AC3E}">
        <p14:creationId xmlns:p14="http://schemas.microsoft.com/office/powerpoint/2010/main" val="1618759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1BC70D-FFDB-EAB9-BBD6-A277738EF5E4}"/>
              </a:ext>
            </a:extLst>
          </p:cNvPr>
          <p:cNvSpPr txBox="1"/>
          <p:nvPr/>
        </p:nvSpPr>
        <p:spPr>
          <a:xfrm>
            <a:off x="2" y="4822"/>
            <a:ext cx="12201643"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Data Preprocessing</a:t>
            </a:r>
          </a:p>
          <a:p>
            <a:endParaRPr lang="en-US" b="1" dirty="0"/>
          </a:p>
          <a:p>
            <a:pPr>
              <a:buFont typeface=""/>
              <a:buChar char="•"/>
            </a:pPr>
            <a:r>
              <a:rPr lang="en-US" dirty="0"/>
              <a:t>Extracted individual damage regions using </a:t>
            </a:r>
            <a:r>
              <a:rPr lang="en-US" b="1" dirty="0"/>
              <a:t>bounding-box annotations</a:t>
            </a:r>
            <a:r>
              <a:rPr lang="en-US" dirty="0"/>
              <a:t>. </a:t>
            </a:r>
          </a:p>
          <a:p>
            <a:pPr>
              <a:buFont typeface=""/>
              <a:buChar char="•"/>
            </a:pPr>
            <a:r>
              <a:rPr lang="en-US" dirty="0"/>
              <a:t>Resized all images to </a:t>
            </a:r>
            <a:r>
              <a:rPr lang="en-US" b="1" dirty="0"/>
              <a:t>224 × 224 pixels</a:t>
            </a:r>
            <a:r>
              <a:rPr lang="en-US" dirty="0"/>
              <a:t>. </a:t>
            </a:r>
          </a:p>
          <a:p>
            <a:pPr>
              <a:buFont typeface=""/>
              <a:buChar char="•"/>
            </a:pPr>
            <a:r>
              <a:rPr lang="en-US" dirty="0"/>
              <a:t>Applied </a:t>
            </a:r>
            <a:r>
              <a:rPr lang="en-US" b="1" dirty="0"/>
              <a:t>pixel normalization</a:t>
            </a:r>
            <a:r>
              <a:rPr lang="en-US" dirty="0"/>
              <a:t> for model training. </a:t>
            </a:r>
          </a:p>
          <a:p>
            <a:pPr marL="228600" indent="-228600">
              <a:buFont typeface=""/>
              <a:buChar char="•"/>
            </a:pPr>
            <a:endParaRPr lang="en-US" dirty="0"/>
          </a:p>
          <a:p>
            <a:pPr marL="228600" indent="-228600">
              <a:buFont typeface=""/>
              <a:buChar char="•"/>
            </a:pPr>
            <a:r>
              <a:rPr lang="en-US" dirty="0"/>
              <a:t>Used </a:t>
            </a:r>
            <a:r>
              <a:rPr lang="en-US" b="1" dirty="0"/>
              <a:t>data augmentation</a:t>
            </a:r>
            <a:r>
              <a:rPr lang="en-US" dirty="0"/>
              <a:t> to improve model generalization: </a:t>
            </a:r>
            <a:endParaRPr lang="en-US"/>
          </a:p>
          <a:p>
            <a:pPr marL="685800" lvl="2" indent="-228600">
              <a:buFont typeface="Wingdings"/>
              <a:buChar char="§"/>
            </a:pPr>
            <a:r>
              <a:rPr lang="en-US" dirty="0"/>
              <a:t>Horizontal Flip </a:t>
            </a:r>
          </a:p>
          <a:p>
            <a:pPr marL="685800" lvl="2" indent="-228600">
              <a:buFont typeface="Wingdings"/>
              <a:buChar char="§"/>
            </a:pPr>
            <a:r>
              <a:rPr lang="en-US" dirty="0"/>
              <a:t>Random Rotation </a:t>
            </a:r>
          </a:p>
          <a:p>
            <a:pPr marL="685800" lvl="2" indent="-228600">
              <a:buFont typeface="Wingdings"/>
              <a:buChar char="§"/>
            </a:pPr>
            <a:r>
              <a:rPr lang="en-US" dirty="0"/>
              <a:t>Random Brightness </a:t>
            </a:r>
          </a:p>
          <a:p>
            <a:pPr marL="685800" lvl="2" indent="-228600">
              <a:buFont typeface="Wingdings"/>
              <a:buChar char="§"/>
            </a:pPr>
            <a:r>
              <a:rPr lang="en-US" dirty="0"/>
              <a:t>Random Zoom </a:t>
            </a:r>
          </a:p>
          <a:p>
            <a:pPr>
              <a:buFont typeface=""/>
              <a:buChar char="•"/>
            </a:pPr>
            <a:endParaRPr lang="en-US" dirty="0"/>
          </a:p>
          <a:p>
            <a:pPr>
              <a:buFont typeface=""/>
              <a:buChar char="•"/>
            </a:pPr>
            <a:r>
              <a:rPr lang="en-US" dirty="0"/>
              <a:t>Used </a:t>
            </a:r>
            <a:r>
              <a:rPr lang="en-US" b="1" dirty="0"/>
              <a:t>Class Weights</a:t>
            </a:r>
            <a:r>
              <a:rPr lang="en-US" dirty="0"/>
              <a:t> to handle class imbalance. </a:t>
            </a:r>
            <a:endParaRPr lang="en-US"/>
          </a:p>
          <a:p>
            <a:pPr marL="685800" lvl="1" indent="-228600">
              <a:buFont typeface=""/>
              <a:buChar char="•"/>
            </a:pPr>
            <a:r>
              <a:rPr lang="en-US" dirty="0"/>
              <a:t>Split the dataset into: </a:t>
            </a:r>
          </a:p>
          <a:p>
            <a:pPr marL="685800" lvl="2" indent="-228600">
              <a:buFont typeface="Wingdings"/>
              <a:buChar char="§"/>
            </a:pPr>
            <a:r>
              <a:rPr lang="en-US" b="1" dirty="0"/>
              <a:t>Training – 702</a:t>
            </a:r>
            <a:r>
              <a:rPr lang="en-US" dirty="0"/>
              <a:t> </a:t>
            </a:r>
          </a:p>
          <a:p>
            <a:pPr marL="685800" lvl="2" indent="-228600">
              <a:buFont typeface="Wingdings"/>
              <a:buChar char="§"/>
            </a:pPr>
            <a:r>
              <a:rPr lang="en-US" b="1" dirty="0"/>
              <a:t>Validation – 173</a:t>
            </a:r>
            <a:r>
              <a:rPr lang="en-US" dirty="0"/>
              <a:t> </a:t>
            </a:r>
          </a:p>
          <a:p>
            <a:pPr marL="685800" lvl="2" indent="-228600">
              <a:buFont typeface="Wingdings"/>
              <a:buChar char="§"/>
            </a:pPr>
            <a:r>
              <a:rPr lang="en-US" b="1" dirty="0"/>
              <a:t>Testing – 151</a:t>
            </a:r>
          </a:p>
          <a:p>
            <a:pPr marL="0" lvl="1"/>
            <a:endParaRPr lang="en-US" b="1" dirty="0">
              <a:ea typeface="+mn-lt"/>
              <a:cs typeface="+mn-lt"/>
            </a:endParaRPr>
          </a:p>
          <a:p>
            <a:pPr marL="0" lvl="1"/>
            <a:endParaRPr lang="en-US" b="1" dirty="0">
              <a:ea typeface="+mn-lt"/>
              <a:cs typeface="+mn-lt"/>
            </a:endParaRPr>
          </a:p>
          <a:p>
            <a:pPr marL="0" lvl="1"/>
            <a:endParaRPr lang="en-US" b="1" dirty="0">
              <a:ea typeface="+mn-lt"/>
              <a:cs typeface="+mn-lt"/>
            </a:endParaRPr>
          </a:p>
          <a:p>
            <a:pPr marL="0" lvl="1"/>
            <a:endParaRPr lang="en-US" b="1" dirty="0">
              <a:ea typeface="+mn-lt"/>
              <a:cs typeface="+mn-lt"/>
            </a:endParaRPr>
          </a:p>
          <a:p>
            <a:pPr marL="0" lvl="1"/>
            <a:r>
              <a:rPr lang="en-US" dirty="0">
                <a:ea typeface="+mn-lt"/>
                <a:cs typeface="+mn-lt"/>
              </a:rPr>
              <a:t>“First, we extracted the damage areas from the original images using bounding boxes. Then we resized the images to 224 by 224 and normalized the pixel values. We also applied data augmentation to create variation in the training images. Since the classes were imbalanced, we used class weights.”</a:t>
            </a:r>
            <a:endParaRPr lang="en-US" dirty="0"/>
          </a:p>
          <a:p>
            <a:pPr algn="ctr"/>
            <a:endParaRPr lang="en-US"/>
          </a:p>
        </p:txBody>
      </p:sp>
    </p:spTree>
    <p:extLst>
      <p:ext uri="{BB962C8B-B14F-4D97-AF65-F5344CB8AC3E}">
        <p14:creationId xmlns:p14="http://schemas.microsoft.com/office/powerpoint/2010/main" val="392094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0D110-22F3-2BBE-9821-7382C3FD2342}"/>
              </a:ext>
            </a:extLst>
          </p:cNvPr>
          <p:cNvSpPr txBox="1"/>
          <p:nvPr/>
        </p:nvSpPr>
        <p:spPr>
          <a:xfrm>
            <a:off x="1" y="4823"/>
            <a:ext cx="12191997"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Baseline CNN</a:t>
            </a:r>
          </a:p>
          <a:p>
            <a:pPr>
              <a:buFont typeface=""/>
              <a:buChar char="•"/>
            </a:pPr>
            <a:r>
              <a:rPr lang="en-US" dirty="0"/>
              <a:t>A custom </a:t>
            </a:r>
            <a:r>
              <a:rPr lang="en-US" b="1" dirty="0"/>
              <a:t>Convolutional Neural Network (CNN)</a:t>
            </a:r>
            <a:r>
              <a:rPr lang="en-US" dirty="0"/>
              <a:t> was developed as the baseline model. </a:t>
            </a:r>
          </a:p>
          <a:p>
            <a:pPr>
              <a:buFont typeface=""/>
              <a:buChar char="•"/>
            </a:pPr>
            <a:r>
              <a:rPr lang="en-US" dirty="0"/>
              <a:t>Input image size: </a:t>
            </a:r>
            <a:r>
              <a:rPr lang="en-US" b="1" dirty="0"/>
              <a:t>224 × 224 × 3</a:t>
            </a:r>
            <a:r>
              <a:rPr lang="en-US" dirty="0"/>
              <a:t> </a:t>
            </a:r>
          </a:p>
          <a:p>
            <a:pPr marL="228600" indent="-228600">
              <a:buFont typeface=""/>
              <a:buChar char="•"/>
            </a:pPr>
            <a:r>
              <a:rPr lang="en-US" dirty="0"/>
              <a:t>The model contains: </a:t>
            </a:r>
          </a:p>
          <a:p>
            <a:pPr marL="685800" lvl="2" indent="-228600">
              <a:buFont typeface="Wingdings"/>
              <a:buChar char="§"/>
            </a:pPr>
            <a:r>
              <a:rPr lang="en-US" dirty="0"/>
              <a:t>3 Convolutional layers </a:t>
            </a:r>
          </a:p>
          <a:p>
            <a:pPr marL="685800" lvl="2" indent="-228600">
              <a:buFont typeface="Wingdings"/>
              <a:buChar char="§"/>
            </a:pPr>
            <a:r>
              <a:rPr lang="en-US" dirty="0"/>
              <a:t>Max Pooling layers </a:t>
            </a:r>
          </a:p>
          <a:p>
            <a:pPr marL="685800" lvl="2" indent="-228600">
              <a:buFont typeface="Wingdings"/>
              <a:buChar char="§"/>
            </a:pPr>
            <a:r>
              <a:rPr lang="en-US" dirty="0"/>
              <a:t>Fully Connected (Dense) layer </a:t>
            </a:r>
          </a:p>
          <a:p>
            <a:pPr marL="685800" lvl="2" indent="-228600">
              <a:buFont typeface="Wingdings"/>
              <a:buChar char="§"/>
            </a:pPr>
            <a:r>
              <a:rPr lang="en-US" dirty="0"/>
              <a:t>Dropout layer </a:t>
            </a:r>
          </a:p>
          <a:p>
            <a:pPr marL="685800" lvl="2" indent="-228600">
              <a:buFont typeface="Wingdings"/>
              <a:buChar char="§"/>
            </a:pPr>
            <a:r>
              <a:rPr lang="en-US" dirty="0" err="1"/>
              <a:t>Softmax</a:t>
            </a:r>
            <a:r>
              <a:rPr lang="en-US" dirty="0"/>
              <a:t> output layer </a:t>
            </a:r>
          </a:p>
          <a:p>
            <a:pPr>
              <a:buFont typeface=""/>
              <a:buChar char="•"/>
            </a:pPr>
            <a:endParaRPr lang="en-US" dirty="0"/>
          </a:p>
          <a:p>
            <a:pPr>
              <a:buFont typeface=""/>
              <a:buChar char="•"/>
            </a:pPr>
            <a:r>
              <a:rPr lang="en-US"/>
              <a:t>Output: </a:t>
            </a:r>
            <a:r>
              <a:rPr lang="en-US" b="1" dirty="0"/>
              <a:t>3 damage classes</a:t>
            </a:r>
            <a:r>
              <a:rPr lang="en-US" dirty="0"/>
              <a:t> </a:t>
            </a:r>
            <a:endParaRPr lang="en-US"/>
          </a:p>
          <a:p>
            <a:pPr>
              <a:buFont typeface=""/>
              <a:buChar char="•"/>
            </a:pPr>
            <a:r>
              <a:rPr lang="en-US" dirty="0"/>
              <a:t>Optimizer: </a:t>
            </a:r>
            <a:r>
              <a:rPr lang="en-US" b="1" dirty="0"/>
              <a:t>Adam</a:t>
            </a:r>
            <a:r>
              <a:rPr lang="en-US" dirty="0"/>
              <a:t> </a:t>
            </a:r>
          </a:p>
          <a:p>
            <a:pPr>
              <a:buFont typeface=""/>
              <a:buChar char="•"/>
            </a:pPr>
            <a:r>
              <a:rPr lang="en-US" dirty="0"/>
              <a:t>Loss Function: </a:t>
            </a:r>
            <a:r>
              <a:rPr lang="en-US" b="1" dirty="0"/>
              <a:t>Sparse Categorical </a:t>
            </a:r>
            <a:r>
              <a:rPr lang="en-US" b="1" dirty="0" err="1"/>
              <a:t>Crossentropy</a:t>
            </a:r>
            <a:r>
              <a:rPr lang="en-US" dirty="0"/>
              <a:t> </a:t>
            </a:r>
          </a:p>
          <a:p>
            <a:r>
              <a:rPr lang="en-US" b="1" dirty="0"/>
              <a:t>📊 Baseline Result</a:t>
            </a:r>
          </a:p>
          <a:p>
            <a:r>
              <a:rPr lang="en-US" b="1" dirty="0">
                <a:ea typeface="+mn-lt"/>
                <a:cs typeface="+mn-lt"/>
              </a:rPr>
              <a:t>Test Accuracy: 58.94%</a:t>
            </a:r>
            <a:endParaRPr lang="en-US"/>
          </a:p>
          <a:p>
            <a:r>
              <a:rPr lang="en-US" b="1" dirty="0">
                <a:ea typeface="+mn-lt"/>
                <a:cs typeface="+mn-lt"/>
              </a:rPr>
              <a:t>Macro F1-Score: 52.20%</a:t>
            </a:r>
            <a:endParaRPr lang="en-US"/>
          </a:p>
          <a:p>
            <a:endParaRPr lang="en-US" b="1" dirty="0">
              <a:ea typeface="+mn-lt"/>
              <a:cs typeface="+mn-lt"/>
            </a:endParaRPr>
          </a:p>
          <a:p>
            <a:r>
              <a:rPr lang="en-US">
                <a:ea typeface="+mn-lt"/>
                <a:cs typeface="+mn-lt"/>
              </a:rPr>
              <a:t>Input → Conv2D → MaxPooling → Conv2D → MaxPooling → Conv2D → MaxPooling → Dense → Dropout → Output</a:t>
            </a:r>
            <a:endParaRPr lang="en-US"/>
          </a:p>
          <a:p>
            <a:endParaRPr lang="en-US" b="1" dirty="0">
              <a:ea typeface="+mn-lt"/>
              <a:cs typeface="+mn-lt"/>
            </a:endParaRPr>
          </a:p>
          <a:p>
            <a:endParaRPr lang="en-US" b="1" dirty="0">
              <a:ea typeface="+mn-lt"/>
              <a:cs typeface="+mn-lt"/>
            </a:endParaRPr>
          </a:p>
          <a:p>
            <a:endParaRPr lang="en-US" b="1" dirty="0">
              <a:ea typeface="+mn-lt"/>
              <a:cs typeface="+mn-lt"/>
            </a:endParaRPr>
          </a:p>
          <a:p>
            <a:endParaRPr lang="en-US" b="1" dirty="0">
              <a:ea typeface="+mn-lt"/>
              <a:cs typeface="+mn-lt"/>
            </a:endParaRPr>
          </a:p>
          <a:p>
            <a:r>
              <a:rPr lang="en-US" dirty="0">
                <a:ea typeface="+mn-lt"/>
                <a:cs typeface="+mn-lt"/>
              </a:rPr>
              <a:t>“First, we created a simple CNN as our baseline model. It has three convolution layers followed by pooling and dense layers. The final layer predicts three damage classes. This model achieved 58.94 percent test accuracy.”</a:t>
            </a:r>
            <a:endParaRPr lang="en-US" dirty="0"/>
          </a:p>
          <a:p>
            <a:pPr algn="ctr"/>
            <a:endParaRPr lang="en-US"/>
          </a:p>
        </p:txBody>
      </p:sp>
    </p:spTree>
    <p:extLst>
      <p:ext uri="{BB962C8B-B14F-4D97-AF65-F5344CB8AC3E}">
        <p14:creationId xmlns:p14="http://schemas.microsoft.com/office/powerpoint/2010/main" val="324623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24ED21-0506-5087-3161-70E6B7950FCE}"/>
              </a:ext>
            </a:extLst>
          </p:cNvPr>
          <p:cNvSpPr txBox="1"/>
          <p:nvPr/>
        </p:nvSpPr>
        <p:spPr>
          <a:xfrm>
            <a:off x="9647" y="4822"/>
            <a:ext cx="12182352"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ResNet50 Transfer Learning</a:t>
            </a:r>
          </a:p>
          <a:p>
            <a:endParaRPr lang="en-US" b="1" dirty="0"/>
          </a:p>
          <a:p>
            <a:pPr>
              <a:buFont typeface=""/>
              <a:buChar char="•"/>
            </a:pPr>
            <a:r>
              <a:rPr lang="en-US" dirty="0"/>
              <a:t>Used </a:t>
            </a:r>
            <a:r>
              <a:rPr lang="en-US" b="1" dirty="0"/>
              <a:t>ResNet50</a:t>
            </a:r>
            <a:r>
              <a:rPr lang="en-US" dirty="0"/>
              <a:t>, a pretrained deep learning model. </a:t>
            </a:r>
          </a:p>
          <a:p>
            <a:pPr>
              <a:buFont typeface=""/>
              <a:buChar char="•"/>
            </a:pPr>
            <a:r>
              <a:rPr lang="en-US" dirty="0"/>
              <a:t>ResNet50 was pretrained on the </a:t>
            </a:r>
            <a:r>
              <a:rPr lang="en-US" b="1" dirty="0"/>
              <a:t>ImageNet</a:t>
            </a:r>
            <a:r>
              <a:rPr lang="en-US" dirty="0"/>
              <a:t> dataset. </a:t>
            </a:r>
          </a:p>
          <a:p>
            <a:pPr>
              <a:buFont typeface=""/>
              <a:buChar char="•"/>
            </a:pPr>
            <a:r>
              <a:rPr lang="en-US" dirty="0"/>
              <a:t>The original classification layer was replaced with a </a:t>
            </a:r>
            <a:r>
              <a:rPr lang="en-US" b="1" dirty="0"/>
              <a:t>3-class output layer</a:t>
            </a:r>
            <a:r>
              <a:rPr lang="en-US" dirty="0"/>
              <a:t>. </a:t>
            </a:r>
          </a:p>
          <a:p>
            <a:pPr>
              <a:buFont typeface=""/>
              <a:buChar char="•"/>
            </a:pPr>
            <a:r>
              <a:rPr lang="en-US" dirty="0"/>
              <a:t>Initially, the pretrained layers were </a:t>
            </a:r>
            <a:r>
              <a:rPr lang="en-US" b="1" dirty="0"/>
              <a:t>frozen</a:t>
            </a:r>
            <a:r>
              <a:rPr lang="en-US" dirty="0"/>
              <a:t>. </a:t>
            </a:r>
          </a:p>
          <a:p>
            <a:pPr>
              <a:buFont typeface=""/>
              <a:buChar char="•"/>
            </a:pPr>
            <a:r>
              <a:rPr lang="en-US" dirty="0"/>
              <a:t>The new classification layers were trained on our road-damage dataset. </a:t>
            </a:r>
          </a:p>
          <a:p>
            <a:pPr>
              <a:buFont typeface=""/>
              <a:buChar char="•"/>
            </a:pPr>
            <a:r>
              <a:rPr lang="en-US" dirty="0"/>
              <a:t>After feature extraction, selected ResNet50 layers were </a:t>
            </a:r>
            <a:r>
              <a:rPr lang="en-US" b="1" dirty="0"/>
              <a:t>fine-tuned</a:t>
            </a:r>
            <a:r>
              <a:rPr lang="en-US" dirty="0"/>
              <a:t> with a low learning rate. </a:t>
            </a:r>
          </a:p>
          <a:p>
            <a:pPr>
              <a:buFont typeface=""/>
              <a:buChar char="•"/>
            </a:pPr>
            <a:r>
              <a:rPr lang="en-US" b="1" dirty="0"/>
              <a:t>Class weights</a:t>
            </a:r>
            <a:r>
              <a:rPr lang="en-US" dirty="0"/>
              <a:t> were used during training to handle class imbalance. </a:t>
            </a:r>
          </a:p>
          <a:p>
            <a:r>
              <a:rPr lang="en-US" b="1" dirty="0"/>
              <a:t>📊 Results</a:t>
            </a:r>
          </a:p>
          <a:p>
            <a:r>
              <a:rPr lang="en-US" b="1" dirty="0"/>
              <a:t>Feature Extraction</a:t>
            </a:r>
          </a:p>
          <a:p>
            <a:pPr>
              <a:buFont typeface=""/>
              <a:buChar char="•"/>
            </a:pPr>
            <a:r>
              <a:rPr lang="en-US" dirty="0"/>
              <a:t>Test Accuracy: </a:t>
            </a:r>
            <a:r>
              <a:rPr lang="en-US" b="1" dirty="0"/>
              <a:t>86.75%</a:t>
            </a:r>
            <a:r>
              <a:rPr lang="en-US" dirty="0"/>
              <a:t> </a:t>
            </a:r>
          </a:p>
          <a:p>
            <a:pPr>
              <a:buFont typeface=""/>
              <a:buChar char="•"/>
            </a:pPr>
            <a:r>
              <a:rPr lang="en-US" dirty="0"/>
              <a:t>Macro F1-Score: </a:t>
            </a:r>
            <a:r>
              <a:rPr lang="en-US" b="1" dirty="0"/>
              <a:t>83.45%</a:t>
            </a:r>
            <a:r>
              <a:rPr lang="en-US" dirty="0"/>
              <a:t> </a:t>
            </a:r>
          </a:p>
          <a:p>
            <a:r>
              <a:rPr lang="en-US" b="1" dirty="0"/>
              <a:t>Fine-Tuning</a:t>
            </a:r>
          </a:p>
          <a:p>
            <a:pPr>
              <a:buFont typeface=""/>
              <a:buChar char="•"/>
            </a:pPr>
            <a:r>
              <a:rPr lang="en-US" dirty="0"/>
              <a:t>Test Accuracy: </a:t>
            </a:r>
            <a:r>
              <a:rPr lang="en-US" b="1" dirty="0"/>
              <a:t>86.75%</a:t>
            </a:r>
            <a:r>
              <a:rPr lang="en-US" dirty="0"/>
              <a:t> </a:t>
            </a:r>
          </a:p>
          <a:p>
            <a:pPr>
              <a:buFont typeface=""/>
              <a:buChar char="•"/>
            </a:pPr>
            <a:r>
              <a:rPr lang="en-US" dirty="0"/>
              <a:t>Macro F1-Score: </a:t>
            </a:r>
            <a:r>
              <a:rPr lang="en-US" b="1" dirty="0"/>
              <a:t>82.63%</a:t>
            </a:r>
            <a:r>
              <a:rPr lang="en-US" dirty="0"/>
              <a:t> </a:t>
            </a:r>
          </a:p>
          <a:p>
            <a:pPr>
              <a:buFont typeface=""/>
              <a:buChar char="•"/>
            </a:pPr>
            <a:r>
              <a:rPr lang="en-US" dirty="0"/>
              <a:t>Test Loss: </a:t>
            </a:r>
            <a:r>
              <a:rPr lang="en-US" b="1" dirty="0"/>
              <a:t>0.3509</a:t>
            </a:r>
          </a:p>
          <a:p>
            <a:pPr>
              <a:buFont typeface=""/>
              <a:buChar char="•"/>
            </a:pPr>
            <a:endParaRPr lang="en-US" b="1" dirty="0"/>
          </a:p>
          <a:p>
            <a:pPr>
              <a:buFont typeface=""/>
              <a:buChar char="•"/>
            </a:pPr>
            <a:endParaRPr lang="en-US" b="1" dirty="0">
              <a:ea typeface="+mn-lt"/>
              <a:cs typeface="+mn-lt"/>
            </a:endParaRPr>
          </a:p>
          <a:p>
            <a:endParaRPr lang="en-US" b="1" dirty="0">
              <a:ea typeface="+mn-lt"/>
              <a:cs typeface="+mn-lt"/>
            </a:endParaRPr>
          </a:p>
          <a:p>
            <a:r>
              <a:rPr lang="en-US" dirty="0">
                <a:ea typeface="+mn-lt"/>
                <a:cs typeface="+mn-lt"/>
              </a:rPr>
              <a:t>“After the baseline CNN, we used ResNet50 transfer learning. ResNet50 already has useful image features learned from ImageNet. First, we froze the pretrained layers and trained our classification head. Then we fine-tuned selected deeper layers using a small learning rate.”</a:t>
            </a:r>
            <a:endParaRPr lang="en-US" dirty="0"/>
          </a:p>
          <a:p>
            <a:pPr algn="ctr"/>
            <a:endParaRPr lang="en-US"/>
          </a:p>
        </p:txBody>
      </p:sp>
    </p:spTree>
    <p:extLst>
      <p:ext uri="{BB962C8B-B14F-4D97-AF65-F5344CB8AC3E}">
        <p14:creationId xmlns:p14="http://schemas.microsoft.com/office/powerpoint/2010/main" val="442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4ABB260-BDDA-9E69-2505-11566E17A3B4}"/>
              </a:ext>
            </a:extLst>
          </p:cNvPr>
          <p:cNvGraphicFramePr>
            <a:graphicFrameLocks noGrp="1"/>
          </p:cNvGraphicFramePr>
          <p:nvPr>
            <p:extLst>
              <p:ext uri="{D42A27DB-BD31-4B8C-83A1-F6EECF244321}">
                <p14:modId xmlns:p14="http://schemas.microsoft.com/office/powerpoint/2010/main" val="2631505210"/>
              </p:ext>
            </p:extLst>
          </p:nvPr>
        </p:nvGraphicFramePr>
        <p:xfrm>
          <a:off x="0" y="4713404"/>
          <a:ext cx="12192000" cy="1463040"/>
        </p:xfrm>
        <a:graphic>
          <a:graphicData uri="http://schemas.openxmlformats.org/drawingml/2006/table">
            <a:tbl>
              <a:tblPr bandRow="1">
                <a:tableStyleId>{5C22544A-7EE6-4342-B048-85BDC9FD1C3A}</a:tableStyleId>
              </a:tblPr>
              <a:tblGrid>
                <a:gridCol w="3048000">
                  <a:extLst>
                    <a:ext uri="{9D8B030D-6E8A-4147-A177-3AD203B41FA5}">
                      <a16:colId xmlns:a16="http://schemas.microsoft.com/office/drawing/2014/main" val="2034360659"/>
                    </a:ext>
                  </a:extLst>
                </a:gridCol>
                <a:gridCol w="3048000">
                  <a:extLst>
                    <a:ext uri="{9D8B030D-6E8A-4147-A177-3AD203B41FA5}">
                      <a16:colId xmlns:a16="http://schemas.microsoft.com/office/drawing/2014/main" val="3469954533"/>
                    </a:ext>
                  </a:extLst>
                </a:gridCol>
                <a:gridCol w="3048000">
                  <a:extLst>
                    <a:ext uri="{9D8B030D-6E8A-4147-A177-3AD203B41FA5}">
                      <a16:colId xmlns:a16="http://schemas.microsoft.com/office/drawing/2014/main" val="4130443700"/>
                    </a:ext>
                  </a:extLst>
                </a:gridCol>
                <a:gridCol w="3048000">
                  <a:extLst>
                    <a:ext uri="{9D8B030D-6E8A-4147-A177-3AD203B41FA5}">
                      <a16:colId xmlns:a16="http://schemas.microsoft.com/office/drawing/2014/main" val="2250629248"/>
                    </a:ext>
                  </a:extLst>
                </a:gridCol>
              </a:tblGrid>
              <a:tr h="0">
                <a:tc>
                  <a:txBody>
                    <a:bodyPr/>
                    <a:lstStyle/>
                    <a:p>
                      <a:pPr>
                        <a:buNone/>
                      </a:pPr>
                      <a:r>
                        <a:rPr lang="en-US" dirty="0"/>
                        <a:t>Model</a:t>
                      </a:r>
                    </a:p>
                  </a:txBody>
                  <a:tcPr anchor="ctr">
                    <a:lnL>
                      <a:noFill/>
                    </a:lnL>
                    <a:lnR>
                      <a:noFill/>
                    </a:lnR>
                    <a:lnT>
                      <a:noFill/>
                    </a:lnT>
                    <a:lnB>
                      <a:noFill/>
                    </a:lnB>
                    <a:noFill/>
                  </a:tcPr>
                </a:tc>
                <a:tc>
                  <a:txBody>
                    <a:bodyPr/>
                    <a:lstStyle/>
                    <a:p>
                      <a:pPr>
                        <a:buNone/>
                      </a:pPr>
                      <a:r>
                        <a:rPr lang="en-US" dirty="0"/>
                        <a:t>Test Accuracy</a:t>
                      </a:r>
                    </a:p>
                  </a:txBody>
                  <a:tcPr anchor="ctr">
                    <a:lnL>
                      <a:noFill/>
                    </a:lnL>
                    <a:lnR>
                      <a:noFill/>
                    </a:lnR>
                    <a:lnT>
                      <a:noFill/>
                    </a:lnT>
                    <a:lnB>
                      <a:noFill/>
                    </a:lnB>
                    <a:noFill/>
                  </a:tcPr>
                </a:tc>
                <a:tc>
                  <a:txBody>
                    <a:bodyPr/>
                    <a:lstStyle/>
                    <a:p>
                      <a:pPr>
                        <a:buNone/>
                      </a:pPr>
                      <a:r>
                        <a:rPr lang="en-US" dirty="0"/>
                        <a:t>Macro F1-Score</a:t>
                      </a:r>
                    </a:p>
                  </a:txBody>
                  <a:tcPr anchor="ctr">
                    <a:lnL>
                      <a:noFill/>
                    </a:lnL>
                    <a:lnR>
                      <a:noFill/>
                    </a:lnR>
                    <a:lnT>
                      <a:noFill/>
                    </a:lnT>
                    <a:lnB>
                      <a:noFill/>
                    </a:lnB>
                    <a:noFill/>
                  </a:tcPr>
                </a:tc>
                <a:tc>
                  <a:txBody>
                    <a:bodyPr/>
                    <a:lstStyle/>
                    <a:p>
                      <a:pPr>
                        <a:buNone/>
                      </a:pPr>
                      <a:r>
                        <a:rPr lang="en-US" dirty="0"/>
                        <a:t>Weighted F1-Score</a:t>
                      </a:r>
                    </a:p>
                  </a:txBody>
                  <a:tcPr anchor="ctr">
                    <a:lnL>
                      <a:noFill/>
                    </a:lnL>
                    <a:lnR>
                      <a:noFill/>
                    </a:lnR>
                    <a:lnT>
                      <a:noFill/>
                    </a:lnT>
                    <a:lnB>
                      <a:noFill/>
                    </a:lnB>
                    <a:noFill/>
                  </a:tcPr>
                </a:tc>
                <a:extLst>
                  <a:ext uri="{0D108BD9-81ED-4DB2-BD59-A6C34878D82A}">
                    <a16:rowId xmlns:a16="http://schemas.microsoft.com/office/drawing/2014/main" val="3262209847"/>
                  </a:ext>
                </a:extLst>
              </a:tr>
              <a:tr h="0">
                <a:tc>
                  <a:txBody>
                    <a:bodyPr/>
                    <a:lstStyle/>
                    <a:p>
                      <a:pPr>
                        <a:buNone/>
                      </a:pPr>
                      <a:r>
                        <a:rPr lang="en-US" dirty="0"/>
                        <a:t>Baseline CNN</a:t>
                      </a:r>
                    </a:p>
                  </a:txBody>
                  <a:tcPr anchor="ctr">
                    <a:lnL>
                      <a:noFill/>
                    </a:lnL>
                    <a:lnR>
                      <a:noFill/>
                    </a:lnR>
                    <a:lnT>
                      <a:noFill/>
                    </a:lnT>
                    <a:lnB>
                      <a:noFill/>
                    </a:lnB>
                    <a:noFill/>
                  </a:tcPr>
                </a:tc>
                <a:tc>
                  <a:txBody>
                    <a:bodyPr/>
                    <a:lstStyle/>
                    <a:p>
                      <a:pPr>
                        <a:buNone/>
                      </a:pPr>
                      <a:r>
                        <a:rPr lang="en-US" dirty="0"/>
                        <a:t>58.94%</a:t>
                      </a:r>
                    </a:p>
                  </a:txBody>
                  <a:tcPr anchor="ctr">
                    <a:lnL>
                      <a:noFill/>
                    </a:lnL>
                    <a:lnR>
                      <a:noFill/>
                    </a:lnR>
                    <a:lnT>
                      <a:noFill/>
                    </a:lnT>
                    <a:lnB>
                      <a:noFill/>
                    </a:lnB>
                    <a:noFill/>
                  </a:tcPr>
                </a:tc>
                <a:tc>
                  <a:txBody>
                    <a:bodyPr/>
                    <a:lstStyle/>
                    <a:p>
                      <a:pPr>
                        <a:buNone/>
                      </a:pPr>
                      <a:r>
                        <a:rPr lang="en-US" dirty="0"/>
                        <a:t>52.20%</a:t>
                      </a:r>
                    </a:p>
                  </a:txBody>
                  <a:tcPr anchor="ctr">
                    <a:lnL>
                      <a:noFill/>
                    </a:lnL>
                    <a:lnR>
                      <a:noFill/>
                    </a:lnR>
                    <a:lnT>
                      <a:noFill/>
                    </a:lnT>
                    <a:lnB>
                      <a:noFill/>
                    </a:lnB>
                    <a:noFill/>
                  </a:tcPr>
                </a:tc>
                <a:tc>
                  <a:txBody>
                    <a:bodyPr/>
                    <a:lstStyle/>
                    <a:p>
                      <a:pPr>
                        <a:buNone/>
                      </a:pPr>
                      <a:r>
                        <a:rPr lang="en-US" dirty="0"/>
                        <a:t>58.79%</a:t>
                      </a:r>
                    </a:p>
                  </a:txBody>
                  <a:tcPr anchor="ctr">
                    <a:lnL>
                      <a:noFill/>
                    </a:lnL>
                    <a:lnR>
                      <a:noFill/>
                    </a:lnR>
                    <a:lnT>
                      <a:noFill/>
                    </a:lnT>
                    <a:lnB>
                      <a:noFill/>
                    </a:lnB>
                    <a:noFill/>
                  </a:tcPr>
                </a:tc>
                <a:extLst>
                  <a:ext uri="{0D108BD9-81ED-4DB2-BD59-A6C34878D82A}">
                    <a16:rowId xmlns:a16="http://schemas.microsoft.com/office/drawing/2014/main" val="2118662020"/>
                  </a:ext>
                </a:extLst>
              </a:tr>
              <a:tr h="0">
                <a:tc>
                  <a:txBody>
                    <a:bodyPr/>
                    <a:lstStyle/>
                    <a:p>
                      <a:pPr>
                        <a:buNone/>
                      </a:pPr>
                      <a:r>
                        <a:rPr lang="en-US" dirty="0"/>
                        <a:t>ResNet50 Feature Extraction</a:t>
                      </a:r>
                    </a:p>
                  </a:txBody>
                  <a:tcPr anchor="ctr">
                    <a:lnL>
                      <a:noFill/>
                    </a:lnL>
                    <a:lnR>
                      <a:noFill/>
                    </a:lnR>
                    <a:lnT>
                      <a:noFill/>
                    </a:lnT>
                    <a:lnB>
                      <a:noFill/>
                    </a:lnB>
                    <a:noFill/>
                  </a:tcPr>
                </a:tc>
                <a:tc>
                  <a:txBody>
                    <a:bodyPr/>
                    <a:lstStyle/>
                    <a:p>
                      <a:pPr>
                        <a:buNone/>
                      </a:pPr>
                      <a:r>
                        <a:rPr lang="en-US" dirty="0"/>
                        <a:t>86.75%</a:t>
                      </a:r>
                    </a:p>
                  </a:txBody>
                  <a:tcPr anchor="ctr">
                    <a:lnL>
                      <a:noFill/>
                    </a:lnL>
                    <a:lnR>
                      <a:noFill/>
                    </a:lnR>
                    <a:lnT>
                      <a:noFill/>
                    </a:lnT>
                    <a:lnB>
                      <a:noFill/>
                    </a:lnB>
                    <a:noFill/>
                  </a:tcPr>
                </a:tc>
                <a:tc>
                  <a:txBody>
                    <a:bodyPr/>
                    <a:lstStyle/>
                    <a:p>
                      <a:pPr>
                        <a:buNone/>
                      </a:pPr>
                      <a:r>
                        <a:rPr lang="en-US" dirty="0"/>
                        <a:t>83.45%</a:t>
                      </a:r>
                    </a:p>
                  </a:txBody>
                  <a:tcPr anchor="ctr">
                    <a:lnL>
                      <a:noFill/>
                    </a:lnL>
                    <a:lnR>
                      <a:noFill/>
                    </a:lnR>
                    <a:lnT>
                      <a:noFill/>
                    </a:lnT>
                    <a:lnB>
                      <a:noFill/>
                    </a:lnB>
                    <a:noFill/>
                  </a:tcPr>
                </a:tc>
                <a:tc>
                  <a:txBody>
                    <a:bodyPr/>
                    <a:lstStyle/>
                    <a:p>
                      <a:pPr>
                        <a:buNone/>
                      </a:pPr>
                      <a:r>
                        <a:rPr lang="en-US" dirty="0"/>
                        <a:t>86.74%</a:t>
                      </a:r>
                    </a:p>
                  </a:txBody>
                  <a:tcPr anchor="ctr">
                    <a:lnL>
                      <a:noFill/>
                    </a:lnL>
                    <a:lnR>
                      <a:noFill/>
                    </a:lnR>
                    <a:lnT>
                      <a:noFill/>
                    </a:lnT>
                    <a:lnB>
                      <a:noFill/>
                    </a:lnB>
                    <a:noFill/>
                  </a:tcPr>
                </a:tc>
                <a:extLst>
                  <a:ext uri="{0D108BD9-81ED-4DB2-BD59-A6C34878D82A}">
                    <a16:rowId xmlns:a16="http://schemas.microsoft.com/office/drawing/2014/main" val="602842291"/>
                  </a:ext>
                </a:extLst>
              </a:tr>
              <a:tr h="0">
                <a:tc>
                  <a:txBody>
                    <a:bodyPr/>
                    <a:lstStyle/>
                    <a:p>
                      <a:pPr>
                        <a:buNone/>
                      </a:pPr>
                      <a:r>
                        <a:rPr lang="en-US" dirty="0"/>
                        <a:t>Fine-tuned ResNet50</a:t>
                      </a:r>
                    </a:p>
                  </a:txBody>
                  <a:tcPr anchor="ctr">
                    <a:lnL>
                      <a:noFill/>
                    </a:lnL>
                    <a:lnR>
                      <a:noFill/>
                    </a:lnR>
                    <a:lnT>
                      <a:noFill/>
                    </a:lnT>
                    <a:lnB>
                      <a:noFill/>
                    </a:lnB>
                    <a:noFill/>
                  </a:tcPr>
                </a:tc>
                <a:tc>
                  <a:txBody>
                    <a:bodyPr/>
                    <a:lstStyle/>
                    <a:p>
                      <a:pPr>
                        <a:buNone/>
                      </a:pPr>
                      <a:r>
                        <a:rPr lang="en-US" dirty="0"/>
                        <a:t>86.75%</a:t>
                      </a:r>
                    </a:p>
                  </a:txBody>
                  <a:tcPr anchor="ctr">
                    <a:lnL>
                      <a:noFill/>
                    </a:lnL>
                    <a:lnR>
                      <a:noFill/>
                    </a:lnR>
                    <a:lnT>
                      <a:noFill/>
                    </a:lnT>
                    <a:lnB>
                      <a:noFill/>
                    </a:lnB>
                    <a:noFill/>
                  </a:tcPr>
                </a:tc>
                <a:tc>
                  <a:txBody>
                    <a:bodyPr/>
                    <a:lstStyle/>
                    <a:p>
                      <a:pPr>
                        <a:buNone/>
                      </a:pPr>
                      <a:r>
                        <a:rPr lang="en-US" dirty="0"/>
                        <a:t>82.63%</a:t>
                      </a:r>
                    </a:p>
                  </a:txBody>
                  <a:tcPr anchor="ctr">
                    <a:lnL>
                      <a:noFill/>
                    </a:lnL>
                    <a:lnR>
                      <a:noFill/>
                    </a:lnR>
                    <a:lnT>
                      <a:noFill/>
                    </a:lnT>
                    <a:lnB>
                      <a:noFill/>
                    </a:lnB>
                    <a:noFill/>
                  </a:tcPr>
                </a:tc>
                <a:tc>
                  <a:txBody>
                    <a:bodyPr/>
                    <a:lstStyle/>
                    <a:p>
                      <a:pPr>
                        <a:buNone/>
                      </a:pPr>
                      <a:r>
                        <a:rPr lang="en-US" dirty="0"/>
                        <a:t>87.04%</a:t>
                      </a:r>
                    </a:p>
                  </a:txBody>
                  <a:tcPr anchor="ctr">
                    <a:lnL>
                      <a:noFill/>
                    </a:lnL>
                    <a:lnR>
                      <a:noFill/>
                    </a:lnR>
                    <a:lnT>
                      <a:noFill/>
                    </a:lnT>
                    <a:lnB>
                      <a:noFill/>
                    </a:lnB>
                    <a:noFill/>
                  </a:tcPr>
                </a:tc>
                <a:extLst>
                  <a:ext uri="{0D108BD9-81ED-4DB2-BD59-A6C34878D82A}">
                    <a16:rowId xmlns:a16="http://schemas.microsoft.com/office/drawing/2014/main" val="420544709"/>
                  </a:ext>
                </a:extLst>
              </a:tr>
            </a:tbl>
          </a:graphicData>
        </a:graphic>
      </p:graphicFrame>
      <p:sp>
        <p:nvSpPr>
          <p:cNvPr id="4" name="TextBox 3">
            <a:extLst>
              <a:ext uri="{FF2B5EF4-FFF2-40B4-BE49-F238E27FC236}">
                <a16:creationId xmlns:a16="http://schemas.microsoft.com/office/drawing/2014/main" id="{50D1DA13-BABD-56CC-C469-751F5A3B8253}"/>
              </a:ext>
            </a:extLst>
          </p:cNvPr>
          <p:cNvSpPr txBox="1"/>
          <p:nvPr/>
        </p:nvSpPr>
        <p:spPr>
          <a:xfrm>
            <a:off x="0" y="4823"/>
            <a:ext cx="1219199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Model Performance Comparison</a:t>
            </a:r>
          </a:p>
          <a:p>
            <a:endParaRPr lang="en-US"/>
          </a:p>
          <a:p>
            <a:r>
              <a:rPr lang="en-US" b="1" dirty="0"/>
              <a:t>Key Observations</a:t>
            </a:r>
          </a:p>
          <a:p>
            <a:pPr>
              <a:buFont typeface=""/>
              <a:buChar char="•"/>
            </a:pPr>
            <a:r>
              <a:rPr lang="en-US" dirty="0"/>
              <a:t>Baseline CNN achieved </a:t>
            </a:r>
            <a:r>
              <a:rPr lang="en-US" b="1" dirty="0"/>
              <a:t>58.94%</a:t>
            </a:r>
            <a:r>
              <a:rPr lang="en-US" dirty="0"/>
              <a:t> test accuracy. </a:t>
            </a:r>
          </a:p>
          <a:p>
            <a:pPr>
              <a:buFont typeface=""/>
              <a:buChar char="•"/>
            </a:pPr>
            <a:r>
              <a:rPr lang="en-US" dirty="0"/>
              <a:t>ResNet50 feature extraction achieved </a:t>
            </a:r>
            <a:r>
              <a:rPr lang="en-US" b="1" dirty="0"/>
              <a:t>86.75%</a:t>
            </a:r>
            <a:r>
              <a:rPr lang="en-US" dirty="0"/>
              <a:t> test accuracy. </a:t>
            </a:r>
          </a:p>
          <a:p>
            <a:pPr>
              <a:buFont typeface=""/>
              <a:buChar char="•"/>
            </a:pPr>
            <a:r>
              <a:rPr lang="en-US" dirty="0"/>
              <a:t>Fine-tuned ResNet50 maintained </a:t>
            </a:r>
            <a:r>
              <a:rPr lang="en-US" b="1" dirty="0"/>
              <a:t>86.75%</a:t>
            </a:r>
            <a:r>
              <a:rPr lang="en-US" dirty="0"/>
              <a:t> test accuracy. </a:t>
            </a:r>
          </a:p>
          <a:p>
            <a:pPr>
              <a:buFont typeface=""/>
              <a:buChar char="•"/>
            </a:pPr>
            <a:r>
              <a:rPr lang="en-US" dirty="0"/>
              <a:t>ResNet50-based models performed substantially better than the baseline CNN. </a:t>
            </a:r>
          </a:p>
          <a:p>
            <a:pPr>
              <a:buFont typeface=""/>
              <a:buChar char="•"/>
            </a:pPr>
            <a:r>
              <a:rPr lang="en-US" dirty="0"/>
              <a:t>Fine-tuning reduced the test loss and changed the class-level performance.</a:t>
            </a:r>
          </a:p>
          <a:p>
            <a:pPr>
              <a:buFont typeface=""/>
              <a:buChar char="•"/>
            </a:pPr>
            <a:endParaRPr lang="en-US" dirty="0"/>
          </a:p>
          <a:p>
            <a:pPr>
              <a:buFont typeface=""/>
              <a:buChar char="•"/>
            </a:pPr>
            <a:endParaRPr lang="en-US" dirty="0"/>
          </a:p>
          <a:p>
            <a:pPr>
              <a:buFont typeface=""/>
              <a:buChar char="•"/>
            </a:pPr>
            <a:endParaRPr lang="en-US" dirty="0"/>
          </a:p>
          <a:p>
            <a:r>
              <a:rPr lang="en-US" dirty="0">
                <a:ea typeface="+mn-lt"/>
                <a:cs typeface="+mn-lt"/>
              </a:rPr>
              <a:t>“Here we compare our three models. The baseline CNN achieved 58.94 percent accuracy. ResNet50 feature extraction achieved 86.75 percent, showing a significant improvement. Fine-tuning also achieved 86.75 percent accuracy, so the overall accuracy remained the same, but the test loss and class-level results changed.”</a:t>
            </a:r>
            <a:endParaRPr lang="en-US" dirty="0"/>
          </a:p>
          <a:p>
            <a:pPr algn="ctr"/>
            <a:endParaRPr lang="en-US"/>
          </a:p>
        </p:txBody>
      </p:sp>
    </p:spTree>
    <p:extLst>
      <p:ext uri="{BB962C8B-B14F-4D97-AF65-F5344CB8AC3E}">
        <p14:creationId xmlns:p14="http://schemas.microsoft.com/office/powerpoint/2010/main" val="3065391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2353D-DFE5-2CAA-0A10-9222EF175A96}"/>
              </a:ext>
            </a:extLst>
          </p:cNvPr>
          <p:cNvSpPr txBox="1"/>
          <p:nvPr/>
        </p:nvSpPr>
        <p:spPr>
          <a:xfrm>
            <a:off x="9647" y="101278"/>
            <a:ext cx="12182353"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Grad-CAM (Gradient-weighted Class Activation Mapping)</a:t>
            </a:r>
          </a:p>
          <a:p>
            <a:endParaRPr lang="en-US" b="1" dirty="0"/>
          </a:p>
          <a:p>
            <a:endParaRPr lang="en-US" b="1" dirty="0"/>
          </a:p>
          <a:p>
            <a:pPr>
              <a:buFont typeface=""/>
              <a:buChar char="•"/>
            </a:pPr>
            <a:r>
              <a:rPr lang="en-US" dirty="0"/>
              <a:t>Grad-CAM helps us understand </a:t>
            </a:r>
            <a:r>
              <a:rPr lang="en-US" b="1" dirty="0"/>
              <a:t>why the model made a particular prediction</a:t>
            </a:r>
            <a:r>
              <a:rPr lang="en-US" dirty="0"/>
              <a:t>. </a:t>
            </a:r>
          </a:p>
          <a:p>
            <a:pPr>
              <a:buFont typeface=""/>
              <a:buChar char="•"/>
            </a:pPr>
            <a:r>
              <a:rPr lang="en-US" dirty="0"/>
              <a:t>It highlights the important regions of the input image. </a:t>
            </a:r>
          </a:p>
          <a:p>
            <a:pPr>
              <a:buFont typeface=""/>
              <a:buChar char="•"/>
            </a:pPr>
            <a:r>
              <a:rPr lang="en-US" dirty="0"/>
              <a:t>The highlighted areas show where the model focused while classifying the damage. </a:t>
            </a:r>
          </a:p>
          <a:p>
            <a:pPr>
              <a:buFont typeface=""/>
              <a:buChar char="•"/>
            </a:pPr>
            <a:r>
              <a:rPr lang="en-US" dirty="0"/>
              <a:t>This makes the deep learning model more </a:t>
            </a:r>
            <a:r>
              <a:rPr lang="en-US" b="1" dirty="0"/>
              <a:t>interpretable and explainable</a:t>
            </a:r>
            <a:r>
              <a:rPr lang="en-US" dirty="0"/>
              <a:t>. </a:t>
            </a:r>
          </a:p>
          <a:p>
            <a:endParaRPr lang="en-US" b="1" dirty="0"/>
          </a:p>
          <a:p>
            <a:endParaRPr lang="en-US" b="1" dirty="0"/>
          </a:p>
          <a:p>
            <a:r>
              <a:rPr lang="en-US" b="1" dirty="0"/>
              <a:t>Example Results</a:t>
            </a:r>
            <a:endParaRPr lang="en-US" dirty="0"/>
          </a:p>
          <a:p>
            <a:pPr>
              <a:buFont typeface=""/>
              <a:buChar char="•"/>
            </a:pPr>
            <a:r>
              <a:rPr lang="en-US" b="1" dirty="0"/>
              <a:t>Pothole:</a:t>
            </a:r>
            <a:r>
              <a:rPr lang="en-US" dirty="0"/>
              <a:t> Model focused on the damaged road region. </a:t>
            </a:r>
          </a:p>
          <a:p>
            <a:pPr>
              <a:buFont typeface=""/>
              <a:buChar char="•"/>
            </a:pPr>
            <a:r>
              <a:rPr lang="en-US" b="1" dirty="0"/>
              <a:t>Crack:</a:t>
            </a:r>
            <a:r>
              <a:rPr lang="en-US" dirty="0"/>
              <a:t> Model highlighted the visible crack region. </a:t>
            </a:r>
          </a:p>
          <a:p>
            <a:pPr>
              <a:buFont typeface=""/>
              <a:buChar char="•"/>
            </a:pPr>
            <a:r>
              <a:rPr lang="en-US" b="1" dirty="0"/>
              <a:t>Manhole:</a:t>
            </a:r>
            <a:r>
              <a:rPr lang="en-US" dirty="0"/>
              <a:t> The sample was misclassified as Pothole, showing that the model can still make incorrect predictions.</a:t>
            </a:r>
          </a:p>
          <a:p>
            <a:endParaRPr lang="en-US" dirty="0"/>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r>
              <a:rPr lang="en-US" dirty="0">
                <a:ea typeface="+mn-lt"/>
                <a:cs typeface="+mn-lt"/>
              </a:rPr>
              <a:t>“We used Grad-CAM to explain the model's prediction. It generates a heatmap showing the regions that influenced the prediction. This helps us understand whether the model is focusing on the actual road-damage area.”</a:t>
            </a:r>
          </a:p>
          <a:p>
            <a:pPr algn="ctr"/>
            <a:endParaRPr lang="en-US"/>
          </a:p>
        </p:txBody>
      </p:sp>
    </p:spTree>
    <p:extLst>
      <p:ext uri="{BB962C8B-B14F-4D97-AF65-F5344CB8AC3E}">
        <p14:creationId xmlns:p14="http://schemas.microsoft.com/office/powerpoint/2010/main" val="2007084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E82E43-11DF-18C8-359F-6D20252FE8BC}"/>
              </a:ext>
            </a:extLst>
          </p:cNvPr>
          <p:cNvSpPr txBox="1"/>
          <p:nvPr/>
        </p:nvSpPr>
        <p:spPr>
          <a:xfrm>
            <a:off x="10028" y="10027"/>
            <a:ext cx="1216191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t>Streamlit</a:t>
            </a:r>
            <a:r>
              <a:rPr lang="en-US" b="1" dirty="0"/>
              <a:t> Web Application</a:t>
            </a:r>
          </a:p>
          <a:p>
            <a:pPr>
              <a:buFont typeface=""/>
              <a:buChar char="•"/>
            </a:pPr>
            <a:r>
              <a:rPr lang="en-US" dirty="0"/>
              <a:t>Developed an interactive web application using </a:t>
            </a:r>
            <a:r>
              <a:rPr lang="en-US" b="1" dirty="0" err="1"/>
              <a:t>Streamlit</a:t>
            </a:r>
            <a:r>
              <a:rPr lang="en-US" dirty="0"/>
              <a:t>. </a:t>
            </a:r>
          </a:p>
          <a:p>
            <a:pPr>
              <a:buFont typeface=""/>
              <a:buChar char="•"/>
            </a:pPr>
            <a:r>
              <a:rPr lang="en-US" dirty="0"/>
              <a:t>User can upload a road image. </a:t>
            </a:r>
          </a:p>
          <a:p>
            <a:pPr>
              <a:buFont typeface=""/>
              <a:buChar char="•"/>
            </a:pPr>
            <a:r>
              <a:rPr lang="en-US" dirty="0"/>
              <a:t>The trained </a:t>
            </a:r>
            <a:r>
              <a:rPr lang="en-US" b="1" dirty="0"/>
              <a:t>ResNet50 model</a:t>
            </a:r>
            <a:r>
              <a:rPr lang="en-US" dirty="0"/>
              <a:t> analyzes the image. </a:t>
            </a:r>
          </a:p>
          <a:p>
            <a:pPr marL="228600" indent="-228600">
              <a:buFont typeface=""/>
              <a:buChar char="•"/>
            </a:pPr>
            <a:r>
              <a:rPr lang="en-US" dirty="0"/>
              <a:t>The application displays: </a:t>
            </a:r>
          </a:p>
          <a:p>
            <a:pPr marL="228600" lvl="1" indent="-228600">
              <a:buFont typeface=""/>
              <a:buChar char="•"/>
            </a:pPr>
            <a:r>
              <a:rPr lang="en-US" dirty="0"/>
              <a:t>Predicted damage type </a:t>
            </a:r>
          </a:p>
          <a:p>
            <a:pPr marL="228600" lvl="1" indent="-228600">
              <a:buFont typeface=""/>
              <a:buChar char="•"/>
            </a:pPr>
            <a:r>
              <a:rPr lang="en-US" dirty="0"/>
              <a:t>Prediction confidence </a:t>
            </a:r>
          </a:p>
          <a:p>
            <a:pPr marL="228600" lvl="1" indent="-228600">
              <a:buFont typeface=""/>
              <a:buChar char="•"/>
            </a:pPr>
            <a:r>
              <a:rPr lang="en-US" dirty="0"/>
              <a:t>Class probabilities </a:t>
            </a:r>
          </a:p>
          <a:p>
            <a:pPr marL="228600" lvl="1" indent="-228600">
              <a:buFont typeface=""/>
              <a:buChar char="•"/>
            </a:pPr>
            <a:r>
              <a:rPr lang="en-US" dirty="0"/>
              <a:t>Grad-CAM visualization </a:t>
            </a:r>
          </a:p>
          <a:p>
            <a:pPr marL="228600" lvl="1" indent="-228600">
              <a:buFont typeface=""/>
              <a:buChar char="•"/>
            </a:pPr>
            <a:r>
              <a:rPr lang="en-US" dirty="0"/>
              <a:t>Damage-specific recommendation </a:t>
            </a:r>
          </a:p>
          <a:p>
            <a:pPr marL="228600" lvl="1" indent="-228600">
              <a:buFont typeface=""/>
              <a:buChar char="•"/>
            </a:pPr>
            <a:endParaRPr lang="en-US" dirty="0"/>
          </a:p>
          <a:p>
            <a:pPr marL="228600" lvl="1" indent="-228600">
              <a:buFont typeface=""/>
              <a:buChar char="•"/>
            </a:pPr>
            <a:endParaRPr lang="en-US" dirty="0"/>
          </a:p>
          <a:p>
            <a:pPr marL="0" lvl="1"/>
            <a:endParaRPr lang="en-US" dirty="0"/>
          </a:p>
          <a:p>
            <a:r>
              <a:rPr lang="en-US" b="1" dirty="0"/>
              <a:t>Application Flow</a:t>
            </a:r>
          </a:p>
          <a:p>
            <a:r>
              <a:rPr lang="en-US" b="1" dirty="0"/>
              <a:t>Upload Image → Model Prediction → Damage Classification → Confidence → Grad-CAM → Recommendation</a:t>
            </a:r>
          </a:p>
          <a:p>
            <a:endParaRPr lang="en-US" b="1" dirty="0"/>
          </a:p>
          <a:p>
            <a:endParaRPr lang="en-US" b="1" dirty="0"/>
          </a:p>
          <a:p>
            <a:endParaRPr lang="en-US" b="1" dirty="0">
              <a:ea typeface="+mn-lt"/>
              <a:cs typeface="+mn-lt"/>
            </a:endParaRPr>
          </a:p>
          <a:p>
            <a:endParaRPr lang="en-US" b="1" dirty="0">
              <a:ea typeface="+mn-lt"/>
              <a:cs typeface="+mn-lt"/>
            </a:endParaRPr>
          </a:p>
          <a:p>
            <a:endParaRPr lang="en-US" b="1" dirty="0">
              <a:ea typeface="+mn-lt"/>
              <a:cs typeface="+mn-lt"/>
            </a:endParaRPr>
          </a:p>
          <a:p>
            <a:r>
              <a:rPr lang="en-US" dirty="0">
                <a:ea typeface="+mn-lt"/>
                <a:cs typeface="+mn-lt"/>
              </a:rPr>
              <a:t>“We integrated our trained model into a </a:t>
            </a:r>
            <a:r>
              <a:rPr lang="en-US" dirty="0" err="1">
                <a:ea typeface="+mn-lt"/>
                <a:cs typeface="+mn-lt"/>
              </a:rPr>
              <a:t>Streamlit</a:t>
            </a:r>
            <a:r>
              <a:rPr lang="en-US" dirty="0">
                <a:ea typeface="+mn-lt"/>
                <a:cs typeface="+mn-lt"/>
              </a:rPr>
              <a:t> web application. The user can upload a road image, and the application predicts the damage type along with confidence and class probabilities. We also show Grad-CAM and a recommendation related to the detected damage.”</a:t>
            </a:r>
            <a:endParaRPr lang="en-US" dirty="0"/>
          </a:p>
          <a:p>
            <a:pPr algn="ctr"/>
            <a:endParaRPr lang="en-US"/>
          </a:p>
        </p:txBody>
      </p:sp>
    </p:spTree>
    <p:extLst>
      <p:ext uri="{BB962C8B-B14F-4D97-AF65-F5344CB8AC3E}">
        <p14:creationId xmlns:p14="http://schemas.microsoft.com/office/powerpoint/2010/main" val="2908834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D403FB-7273-FBC8-E2AE-6CF9BF5FA332}"/>
              </a:ext>
            </a:extLst>
          </p:cNvPr>
          <p:cNvSpPr txBox="1"/>
          <p:nvPr/>
        </p:nvSpPr>
        <p:spPr>
          <a:xfrm>
            <a:off x="1" y="4824"/>
            <a:ext cx="12201644"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Conclusion</a:t>
            </a:r>
          </a:p>
          <a:p>
            <a:endParaRPr lang="en-US" b="1" dirty="0"/>
          </a:p>
          <a:p>
            <a:endParaRPr lang="en-US" b="1" dirty="0"/>
          </a:p>
          <a:p>
            <a:pPr>
              <a:buFont typeface=""/>
              <a:buChar char="•"/>
            </a:pPr>
            <a:r>
              <a:rPr lang="en-US" dirty="0"/>
              <a:t>Developed an automated road damage classification system using </a:t>
            </a:r>
            <a:r>
              <a:rPr lang="en-US" b="1" dirty="0"/>
              <a:t>Deep Learning</a:t>
            </a:r>
            <a:r>
              <a:rPr lang="en-US" dirty="0"/>
              <a:t>. </a:t>
            </a:r>
          </a:p>
          <a:p>
            <a:pPr>
              <a:buFont typeface=""/>
              <a:buChar char="•"/>
            </a:pPr>
            <a:r>
              <a:rPr lang="en-US" dirty="0"/>
              <a:t>Classified road damage into </a:t>
            </a:r>
            <a:r>
              <a:rPr lang="en-US" b="1" dirty="0"/>
              <a:t>Pothole, Crack, and Manhole</a:t>
            </a:r>
            <a:r>
              <a:rPr lang="en-US" dirty="0"/>
              <a:t>. </a:t>
            </a:r>
          </a:p>
          <a:p>
            <a:pPr>
              <a:buFont typeface=""/>
              <a:buChar char="•"/>
            </a:pPr>
            <a:r>
              <a:rPr lang="en-US" dirty="0"/>
              <a:t>Baseline CNN achieved </a:t>
            </a:r>
            <a:r>
              <a:rPr lang="en-US" b="1" dirty="0"/>
              <a:t>58.94%</a:t>
            </a:r>
            <a:r>
              <a:rPr lang="en-US" dirty="0"/>
              <a:t> test accuracy. </a:t>
            </a:r>
          </a:p>
          <a:p>
            <a:pPr>
              <a:buFont typeface=""/>
              <a:buChar char="•"/>
            </a:pPr>
            <a:r>
              <a:rPr lang="en-US" dirty="0"/>
              <a:t>ResNet50 achieved </a:t>
            </a:r>
            <a:r>
              <a:rPr lang="en-US" b="1" dirty="0"/>
              <a:t>86.75%</a:t>
            </a:r>
            <a:r>
              <a:rPr lang="en-US" dirty="0"/>
              <a:t> test accuracy. </a:t>
            </a:r>
          </a:p>
          <a:p>
            <a:pPr>
              <a:buFont typeface=""/>
              <a:buChar char="•"/>
            </a:pPr>
            <a:r>
              <a:rPr lang="en-US" dirty="0"/>
              <a:t>Grad-CAM was used to improve </a:t>
            </a:r>
            <a:r>
              <a:rPr lang="en-US" b="1" dirty="0"/>
              <a:t>model explainability</a:t>
            </a:r>
            <a:r>
              <a:rPr lang="en-US" dirty="0"/>
              <a:t>. </a:t>
            </a:r>
          </a:p>
          <a:p>
            <a:pPr>
              <a:buFont typeface=""/>
              <a:buChar char="•"/>
            </a:pPr>
            <a:r>
              <a:rPr lang="en-US" dirty="0"/>
              <a:t>A </a:t>
            </a:r>
            <a:r>
              <a:rPr lang="en-US" dirty="0" err="1"/>
              <a:t>Streamlit</a:t>
            </a:r>
            <a:r>
              <a:rPr lang="en-US" dirty="0"/>
              <a:t> application was developed for practical image-based prediction. </a:t>
            </a:r>
          </a:p>
          <a:p>
            <a:pPr>
              <a:buFont typeface=""/>
              <a:buChar char="•"/>
            </a:pPr>
            <a:r>
              <a:rPr lang="en-US" dirty="0"/>
              <a:t>The system demonstrates how deep learning can support </a:t>
            </a:r>
            <a:r>
              <a:rPr lang="en-US" b="1" dirty="0"/>
              <a:t>automated road inspection</a:t>
            </a:r>
            <a:r>
              <a:rPr lang="en-US" dirty="0"/>
              <a:t>.</a:t>
            </a:r>
          </a:p>
          <a:p>
            <a:pPr>
              <a:buFont typeface=""/>
              <a:buChar char="•"/>
            </a:pPr>
            <a:endParaRPr lang="en-US" dirty="0"/>
          </a:p>
          <a:p>
            <a:endParaRPr lang="en-US" dirty="0"/>
          </a:p>
          <a:p>
            <a:pPr>
              <a:buFont typeface=""/>
            </a:pPr>
            <a:endParaRPr lang="en-US" dirty="0">
              <a:ea typeface="+mn-lt"/>
              <a:cs typeface="+mn-lt"/>
            </a:endParaRPr>
          </a:p>
          <a:p>
            <a:pPr>
              <a:buFont typeface=""/>
            </a:pPr>
            <a:endParaRPr lang="en-US" dirty="0">
              <a:ea typeface="+mn-lt"/>
              <a:cs typeface="+mn-lt"/>
            </a:endParaRPr>
          </a:p>
          <a:p>
            <a:pPr>
              <a:buFont typeface=""/>
            </a:pPr>
            <a:endParaRPr lang="en-US" dirty="0">
              <a:ea typeface="+mn-lt"/>
              <a:cs typeface="+mn-lt"/>
            </a:endParaRPr>
          </a:p>
          <a:p>
            <a:pPr>
              <a:buFont typeface=""/>
            </a:pPr>
            <a:endParaRPr lang="en-US" dirty="0">
              <a:ea typeface="+mn-lt"/>
              <a:cs typeface="+mn-lt"/>
            </a:endParaRPr>
          </a:p>
          <a:p>
            <a:pPr>
              <a:buFont typeface=""/>
            </a:pPr>
            <a:endParaRPr lang="en-US" dirty="0">
              <a:ea typeface="+mn-lt"/>
              <a:cs typeface="+mn-lt"/>
            </a:endParaRPr>
          </a:p>
          <a:p>
            <a:pPr>
              <a:buFont typeface=""/>
            </a:pPr>
            <a:endParaRPr lang="en-US" dirty="0">
              <a:ea typeface="+mn-lt"/>
              <a:cs typeface="+mn-lt"/>
            </a:endParaRPr>
          </a:p>
          <a:p>
            <a:r>
              <a:rPr lang="en-US" dirty="0">
                <a:ea typeface="+mn-lt"/>
                <a:cs typeface="+mn-lt"/>
              </a:rPr>
              <a:t>“In conclusion, we developed a deep learning-based system to classify three types of road damage. ResNet50 performed better than our baseline CNN, achieving 86.75 percent test accuracy. We also used Grad-CAM for explainability and integrated the final model into a </a:t>
            </a:r>
            <a:r>
              <a:rPr lang="en-US" dirty="0" err="1">
                <a:ea typeface="+mn-lt"/>
                <a:cs typeface="+mn-lt"/>
              </a:rPr>
              <a:t>Streamlit</a:t>
            </a:r>
            <a:r>
              <a:rPr lang="en-US" dirty="0">
                <a:ea typeface="+mn-lt"/>
                <a:cs typeface="+mn-lt"/>
              </a:rPr>
              <a:t> application.”</a:t>
            </a:r>
            <a:endParaRPr lang="en-US" dirty="0"/>
          </a:p>
          <a:p>
            <a:pPr algn="ctr"/>
            <a:endParaRPr lang="en-US"/>
          </a:p>
        </p:txBody>
      </p:sp>
    </p:spTree>
    <p:extLst>
      <p:ext uri="{BB962C8B-B14F-4D97-AF65-F5344CB8AC3E}">
        <p14:creationId xmlns:p14="http://schemas.microsoft.com/office/powerpoint/2010/main" val="403000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30D651-FE63-F836-83EE-04A4A91F648F}"/>
              </a:ext>
            </a:extLst>
          </p:cNvPr>
          <p:cNvSpPr txBox="1"/>
          <p:nvPr/>
        </p:nvSpPr>
        <p:spPr>
          <a:xfrm>
            <a:off x="1" y="4824"/>
            <a:ext cx="12191999"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Future Scope</a:t>
            </a:r>
          </a:p>
          <a:p>
            <a:endParaRPr lang="en-US" b="1" dirty="0"/>
          </a:p>
          <a:p>
            <a:endParaRPr lang="en-US" b="1" dirty="0"/>
          </a:p>
          <a:p>
            <a:pPr>
              <a:buFont typeface=""/>
              <a:buChar char="•"/>
            </a:pPr>
            <a:r>
              <a:rPr lang="en-US" dirty="0"/>
              <a:t>Expand the dataset with more road images from different locations and conditions. </a:t>
            </a:r>
          </a:p>
          <a:p>
            <a:pPr>
              <a:buFont typeface=""/>
              <a:buChar char="•"/>
            </a:pPr>
            <a:r>
              <a:rPr lang="en-US" dirty="0"/>
              <a:t>Add more types of road damage. </a:t>
            </a:r>
          </a:p>
          <a:p>
            <a:pPr>
              <a:buFont typeface=""/>
              <a:buChar char="•"/>
            </a:pPr>
            <a:r>
              <a:rPr lang="en-US" dirty="0"/>
              <a:t>Use </a:t>
            </a:r>
            <a:r>
              <a:rPr lang="en-US" b="1" dirty="0"/>
              <a:t>Object Detection</a:t>
            </a:r>
            <a:r>
              <a:rPr lang="en-US" dirty="0"/>
              <a:t> to detect multiple damages in a single full road image. </a:t>
            </a:r>
          </a:p>
          <a:p>
            <a:pPr>
              <a:buFont typeface=""/>
              <a:buChar char="•"/>
            </a:pPr>
            <a:r>
              <a:rPr lang="en-US" dirty="0"/>
              <a:t>Improve performance under different </a:t>
            </a:r>
            <a:r>
              <a:rPr lang="en-US" b="1" dirty="0"/>
              <a:t>lighting and weather conditions</a:t>
            </a:r>
            <a:r>
              <a:rPr lang="en-US" dirty="0"/>
              <a:t>. </a:t>
            </a:r>
          </a:p>
          <a:p>
            <a:pPr>
              <a:buFont typeface=""/>
              <a:buChar char="•"/>
            </a:pPr>
            <a:r>
              <a:rPr lang="en-US" dirty="0"/>
              <a:t>Integrate </a:t>
            </a:r>
            <a:r>
              <a:rPr lang="en-US" b="1" dirty="0"/>
              <a:t>GPS/location data</a:t>
            </a:r>
            <a:r>
              <a:rPr lang="en-US" dirty="0"/>
              <a:t> for identifying damaged road locations. </a:t>
            </a:r>
          </a:p>
          <a:p>
            <a:pPr>
              <a:buFont typeface=""/>
              <a:buChar char="•"/>
            </a:pPr>
            <a:r>
              <a:rPr lang="en-US" dirty="0"/>
              <a:t>Develop a mobile-based solution for </a:t>
            </a:r>
            <a:r>
              <a:rPr lang="en-US" b="1" dirty="0"/>
              <a:t>field-level road inspection</a:t>
            </a:r>
            <a:r>
              <a:rPr lang="en-US" dirty="0"/>
              <a:t>. </a:t>
            </a:r>
          </a:p>
          <a:p>
            <a:pPr>
              <a:buFont typeface=""/>
              <a:buChar char="•"/>
            </a:pPr>
            <a:r>
              <a:rPr lang="en-US" dirty="0"/>
              <a:t>Integrate the system with smart-city or road-maintenance monitoring systems.</a:t>
            </a:r>
          </a:p>
          <a:p>
            <a:pPr>
              <a:buFont typeface=""/>
              <a:buChar char="•"/>
            </a:pPr>
            <a:endParaRPr lang="en-US" dirty="0"/>
          </a:p>
          <a:p>
            <a:pPr>
              <a:buFont typeface=""/>
              <a:buChar char="•"/>
            </a:pPr>
            <a:endParaRPr lang="en-US" dirty="0"/>
          </a:p>
          <a:p>
            <a:pPr>
              <a:buFont typeface=""/>
              <a:buChar char="•"/>
            </a:pPr>
            <a:endParaRPr lang="en-US" dirty="0">
              <a:ea typeface="+mn-lt"/>
              <a:cs typeface="+mn-lt"/>
            </a:endParaRPr>
          </a:p>
          <a:p>
            <a:pPr>
              <a:buFont typeface=""/>
              <a:buChar char="•"/>
            </a:pPr>
            <a:endParaRPr lang="en-US" dirty="0">
              <a:ea typeface="+mn-lt"/>
              <a:cs typeface="+mn-lt"/>
            </a:endParaRPr>
          </a:p>
          <a:p>
            <a:pPr>
              <a:buFont typeface=""/>
              <a:buChar char="•"/>
            </a:pPr>
            <a:endParaRPr lang="en-US" dirty="0">
              <a:ea typeface="+mn-lt"/>
              <a:cs typeface="+mn-lt"/>
            </a:endParaRPr>
          </a:p>
          <a:p>
            <a:pPr>
              <a:buFont typeface=""/>
              <a:buChar char="•"/>
            </a:pPr>
            <a:endParaRPr lang="en-US" dirty="0">
              <a:ea typeface="+mn-lt"/>
              <a:cs typeface="+mn-lt"/>
            </a:endParaRPr>
          </a:p>
          <a:p>
            <a:pPr>
              <a:buFont typeface=""/>
              <a:buChar char="•"/>
            </a:pPr>
            <a:endParaRPr lang="en-US" dirty="0">
              <a:ea typeface="+mn-lt"/>
              <a:cs typeface="+mn-lt"/>
            </a:endParaRPr>
          </a:p>
          <a:p>
            <a:endParaRPr lang="en-US" dirty="0">
              <a:ea typeface="+mn-lt"/>
              <a:cs typeface="+mn-lt"/>
            </a:endParaRPr>
          </a:p>
          <a:p>
            <a:r>
              <a:rPr lang="en-US" dirty="0">
                <a:ea typeface="+mn-lt"/>
                <a:cs typeface="+mn-lt"/>
              </a:rPr>
              <a:t>“In future, we can use a larger and more diverse dataset and add more damage categories. We can also use object detection to identify multiple damages in a full road image. GPS integration and a mobile application can make the system more useful for real-world road inspection.”</a:t>
            </a:r>
          </a:p>
          <a:p>
            <a:pPr algn="ctr"/>
            <a:endParaRPr lang="en-US"/>
          </a:p>
        </p:txBody>
      </p:sp>
    </p:spTree>
    <p:extLst>
      <p:ext uri="{BB962C8B-B14F-4D97-AF65-F5344CB8AC3E}">
        <p14:creationId xmlns:p14="http://schemas.microsoft.com/office/powerpoint/2010/main" val="11631713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150</cp:revision>
  <dcterms:created xsi:type="dcterms:W3CDTF">2026-09-17T12:47:25Z</dcterms:created>
  <dcterms:modified xsi:type="dcterms:W3CDTF">2026-09-17T13:18:05Z</dcterms:modified>
</cp:coreProperties>
</file>